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ora Bold" charset="1" panose="00000800000000000000"/>
      <p:regular r:id="rId17"/>
    </p:embeddedFont>
    <p:embeddedFont>
      <p:font typeface="Rosario Bold" charset="1" panose="02000503060000020004"/>
      <p:regular r:id="rId18"/>
    </p:embeddedFont>
    <p:embeddedFont>
      <p:font typeface="Lora" charset="1" panose="00000500000000000000"/>
      <p:regular r:id="rId19"/>
    </p:embeddedFont>
    <p:embeddedFont>
      <p:font typeface="Canva Sans" charset="1" panose="020B0503030501040103"/>
      <p:regular r:id="rId20"/>
    </p:embeddedFont>
    <p:embeddedFont>
      <p:font typeface="Rosario" charset="1" panose="020005030400000200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1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6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1.png" Type="http://schemas.openxmlformats.org/officeDocument/2006/relationships/image"/><Relationship Id="rId5" Target="../media/image13.png" Type="http://schemas.openxmlformats.org/officeDocument/2006/relationships/image"/><Relationship Id="rId6" Target="../media/image18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21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2.pn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832972" y="4656897"/>
            <a:ext cx="13379600" cy="13379600"/>
          </a:xfrm>
          <a:custGeom>
            <a:avLst/>
            <a:gdLst/>
            <a:ahLst/>
            <a:cxnLst/>
            <a:rect r="r" b="b" t="t" l="l"/>
            <a:pathLst>
              <a:path h="13379600" w="13379600">
                <a:moveTo>
                  <a:pt x="0" y="0"/>
                </a:moveTo>
                <a:lnTo>
                  <a:pt x="13379600" y="0"/>
                </a:lnTo>
                <a:lnTo>
                  <a:pt x="13379600" y="13379600"/>
                </a:lnTo>
                <a:lnTo>
                  <a:pt x="0" y="1337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732171">
            <a:off x="10240985" y="-3690733"/>
            <a:ext cx="12910814" cy="9236612"/>
          </a:xfrm>
          <a:custGeom>
            <a:avLst/>
            <a:gdLst/>
            <a:ahLst/>
            <a:cxnLst/>
            <a:rect r="r" b="b" t="t" l="l"/>
            <a:pathLst>
              <a:path h="9236612" w="12910814">
                <a:moveTo>
                  <a:pt x="0" y="0"/>
                </a:moveTo>
                <a:lnTo>
                  <a:pt x="12910814" y="0"/>
                </a:lnTo>
                <a:lnTo>
                  <a:pt x="12910814" y="9236611"/>
                </a:lnTo>
                <a:lnTo>
                  <a:pt x="0" y="92366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266353" y="-2453978"/>
            <a:ext cx="10965243" cy="8744781"/>
          </a:xfrm>
          <a:custGeom>
            <a:avLst/>
            <a:gdLst/>
            <a:ahLst/>
            <a:cxnLst/>
            <a:rect r="r" b="b" t="t" l="l"/>
            <a:pathLst>
              <a:path h="8744781" w="10965243">
                <a:moveTo>
                  <a:pt x="0" y="0"/>
                </a:moveTo>
                <a:lnTo>
                  <a:pt x="10965243" y="0"/>
                </a:lnTo>
                <a:lnTo>
                  <a:pt x="10965243" y="8744782"/>
                </a:lnTo>
                <a:lnTo>
                  <a:pt x="0" y="87447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194960" y="8386663"/>
            <a:ext cx="3501432" cy="603997"/>
            <a:chOff x="0" y="0"/>
            <a:chExt cx="4668576" cy="8053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68576" cy="805329"/>
            </a:xfrm>
            <a:custGeom>
              <a:avLst/>
              <a:gdLst/>
              <a:ahLst/>
              <a:cxnLst/>
              <a:rect r="r" b="b" t="t" l="l"/>
              <a:pathLst>
                <a:path h="805329" w="4668576">
                  <a:moveTo>
                    <a:pt x="0" y="0"/>
                  </a:moveTo>
                  <a:lnTo>
                    <a:pt x="4668576" y="0"/>
                  </a:lnTo>
                  <a:lnTo>
                    <a:pt x="4668576" y="805329"/>
                  </a:lnTo>
                  <a:lnTo>
                    <a:pt x="0" y="805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224865"/>
              <a:ext cx="4035827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58"/>
                </a:lnSpc>
              </a:pPr>
              <a:r>
                <a:rPr lang="en-US" b="true" sz="1798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TriByte Team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40949" y="131865"/>
            <a:ext cx="1608666" cy="1591415"/>
          </a:xfrm>
          <a:custGeom>
            <a:avLst/>
            <a:gdLst/>
            <a:ahLst/>
            <a:cxnLst/>
            <a:rect r="r" b="b" t="t" l="l"/>
            <a:pathLst>
              <a:path h="1591415" w="1608666">
                <a:moveTo>
                  <a:pt x="0" y="0"/>
                </a:moveTo>
                <a:lnTo>
                  <a:pt x="1608665" y="0"/>
                </a:lnTo>
                <a:lnTo>
                  <a:pt x="1608665" y="1591415"/>
                </a:lnTo>
                <a:lnTo>
                  <a:pt x="0" y="15914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47051" y="1925920"/>
            <a:ext cx="14393897" cy="433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01"/>
              </a:lnSpc>
              <a:spcBef>
                <a:spcPct val="0"/>
              </a:spcBef>
            </a:pPr>
            <a:r>
              <a:rPr lang="en-US" b="true" sz="10272" strike="noStrike" u="none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HallPass — Student Reviews &amp; Campus Survival Guide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80716" y="6587936"/>
            <a:ext cx="712656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Turning Scattered Campus Information into One Trusted Starting Point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73991" y="7467641"/>
            <a:ext cx="7940018" cy="621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ICT105 Fundamental Technology Entrepreneurship</a:t>
            </a:r>
          </a:p>
          <a:p>
            <a:pPr algn="ctr" marL="0" indent="0" lvl="0">
              <a:lnSpc>
                <a:spcPts val="2518"/>
              </a:lnSpc>
            </a:pPr>
            <a:r>
              <a:rPr lang="en-US" sz="1798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Instructor: Dr. Herison Surbakti  |  July 31,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526455" y="-13621991"/>
            <a:ext cx="24910508" cy="24910508"/>
          </a:xfrm>
          <a:custGeom>
            <a:avLst/>
            <a:gdLst/>
            <a:ahLst/>
            <a:cxnLst/>
            <a:rect r="r" b="b" t="t" l="l"/>
            <a:pathLst>
              <a:path h="24910508" w="24910508">
                <a:moveTo>
                  <a:pt x="0" y="0"/>
                </a:moveTo>
                <a:lnTo>
                  <a:pt x="24910508" y="0"/>
                </a:lnTo>
                <a:lnTo>
                  <a:pt x="24910508" y="24910508"/>
                </a:lnTo>
                <a:lnTo>
                  <a:pt x="0" y="24910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50531" y="0"/>
            <a:ext cx="24074938" cy="24064906"/>
          </a:xfrm>
          <a:custGeom>
            <a:avLst/>
            <a:gdLst/>
            <a:ahLst/>
            <a:cxnLst/>
            <a:rect r="r" b="b" t="t" l="l"/>
            <a:pathLst>
              <a:path h="24064906" w="24074938">
                <a:moveTo>
                  <a:pt x="0" y="0"/>
                </a:moveTo>
                <a:lnTo>
                  <a:pt x="24074938" y="0"/>
                </a:lnTo>
                <a:lnTo>
                  <a:pt x="24074938" y="24064906"/>
                </a:lnTo>
                <a:lnTo>
                  <a:pt x="0" y="24064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25215" y="533802"/>
            <a:ext cx="8437569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90"/>
              </a:lnSpc>
              <a:spcBef>
                <a:spcPct val="0"/>
              </a:spcBef>
            </a:pPr>
            <a:r>
              <a:rPr lang="en-US" b="true" sz="9000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Meet the Team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201664"/>
            <a:ext cx="5062445" cy="2856850"/>
            <a:chOff x="0" y="0"/>
            <a:chExt cx="693406" cy="3913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3406" cy="391304"/>
            </a:xfrm>
            <a:custGeom>
              <a:avLst/>
              <a:gdLst/>
              <a:ahLst/>
              <a:cxnLst/>
              <a:rect r="r" b="b" t="t" l="l"/>
              <a:pathLst>
                <a:path h="391304" w="693406">
                  <a:moveTo>
                    <a:pt x="29869" y="0"/>
                  </a:moveTo>
                  <a:lnTo>
                    <a:pt x="663537" y="0"/>
                  </a:lnTo>
                  <a:cubicBezTo>
                    <a:pt x="680033" y="0"/>
                    <a:pt x="693406" y="13373"/>
                    <a:pt x="693406" y="29869"/>
                  </a:cubicBezTo>
                  <a:lnTo>
                    <a:pt x="693406" y="361436"/>
                  </a:lnTo>
                  <a:cubicBezTo>
                    <a:pt x="693406" y="369357"/>
                    <a:pt x="690259" y="376955"/>
                    <a:pt x="684658" y="382556"/>
                  </a:cubicBezTo>
                  <a:cubicBezTo>
                    <a:pt x="679056" y="388158"/>
                    <a:pt x="671459" y="391304"/>
                    <a:pt x="663537" y="391304"/>
                  </a:cubicBezTo>
                  <a:lnTo>
                    <a:pt x="29869" y="391304"/>
                  </a:lnTo>
                  <a:cubicBezTo>
                    <a:pt x="13373" y="391304"/>
                    <a:pt x="0" y="377932"/>
                    <a:pt x="0" y="361436"/>
                  </a:cubicBezTo>
                  <a:lnTo>
                    <a:pt x="0" y="29869"/>
                  </a:lnTo>
                  <a:cubicBezTo>
                    <a:pt x="0" y="13373"/>
                    <a:pt x="13373" y="0"/>
                    <a:pt x="29869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693406" cy="372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32033" y="4680363"/>
            <a:ext cx="4255779" cy="168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Product &amp; Documentation Lead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Leads product strategy, project documentation, and overall delivery coordination for HallPass.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124043" y="4201664"/>
            <a:ext cx="5062445" cy="2856850"/>
            <a:chOff x="0" y="0"/>
            <a:chExt cx="693406" cy="3913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3406" cy="391304"/>
            </a:xfrm>
            <a:custGeom>
              <a:avLst/>
              <a:gdLst/>
              <a:ahLst/>
              <a:cxnLst/>
              <a:rect r="r" b="b" t="t" l="l"/>
              <a:pathLst>
                <a:path h="391304" w="693406">
                  <a:moveTo>
                    <a:pt x="29869" y="0"/>
                  </a:moveTo>
                  <a:lnTo>
                    <a:pt x="663537" y="0"/>
                  </a:lnTo>
                  <a:cubicBezTo>
                    <a:pt x="680033" y="0"/>
                    <a:pt x="693406" y="13373"/>
                    <a:pt x="693406" y="29869"/>
                  </a:cubicBezTo>
                  <a:lnTo>
                    <a:pt x="693406" y="361436"/>
                  </a:lnTo>
                  <a:cubicBezTo>
                    <a:pt x="693406" y="369357"/>
                    <a:pt x="690259" y="376955"/>
                    <a:pt x="684658" y="382556"/>
                  </a:cubicBezTo>
                  <a:cubicBezTo>
                    <a:pt x="679056" y="388158"/>
                    <a:pt x="671459" y="391304"/>
                    <a:pt x="663537" y="391304"/>
                  </a:cubicBezTo>
                  <a:lnTo>
                    <a:pt x="29869" y="391304"/>
                  </a:lnTo>
                  <a:cubicBezTo>
                    <a:pt x="13373" y="391304"/>
                    <a:pt x="0" y="377932"/>
                    <a:pt x="0" y="361436"/>
                  </a:cubicBezTo>
                  <a:lnTo>
                    <a:pt x="0" y="29869"/>
                  </a:lnTo>
                  <a:cubicBezTo>
                    <a:pt x="0" y="13373"/>
                    <a:pt x="13373" y="0"/>
                    <a:pt x="29869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693406" cy="372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446336" y="4460102"/>
            <a:ext cx="4417858" cy="231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UX/UI &amp; Validation Lead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Des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ig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ned i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te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rfa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 sc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ens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,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o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ribu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te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CSS an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int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racti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o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 d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sig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n,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an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age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cus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om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 d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overy, v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al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idation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ev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nce, privacy docu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mentation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,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a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nd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rke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ing c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om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munication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503496" y="4179111"/>
            <a:ext cx="5062445" cy="2879404"/>
            <a:chOff x="0" y="0"/>
            <a:chExt cx="693406" cy="3943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3406" cy="394394"/>
            </a:xfrm>
            <a:custGeom>
              <a:avLst/>
              <a:gdLst/>
              <a:ahLst/>
              <a:cxnLst/>
              <a:rect r="r" b="b" t="t" l="l"/>
              <a:pathLst>
                <a:path h="394394" w="693406">
                  <a:moveTo>
                    <a:pt x="29869" y="0"/>
                  </a:moveTo>
                  <a:lnTo>
                    <a:pt x="663537" y="0"/>
                  </a:lnTo>
                  <a:cubicBezTo>
                    <a:pt x="680033" y="0"/>
                    <a:pt x="693406" y="13373"/>
                    <a:pt x="693406" y="29869"/>
                  </a:cubicBezTo>
                  <a:lnTo>
                    <a:pt x="693406" y="364525"/>
                  </a:lnTo>
                  <a:cubicBezTo>
                    <a:pt x="693406" y="381021"/>
                    <a:pt x="680033" y="394394"/>
                    <a:pt x="663537" y="394394"/>
                  </a:cubicBezTo>
                  <a:lnTo>
                    <a:pt x="29869" y="394394"/>
                  </a:lnTo>
                  <a:cubicBezTo>
                    <a:pt x="13373" y="394394"/>
                    <a:pt x="0" y="381021"/>
                    <a:pt x="0" y="364525"/>
                  </a:cubicBezTo>
                  <a:lnTo>
                    <a:pt x="0" y="29869"/>
                  </a:lnTo>
                  <a:cubicBezTo>
                    <a:pt x="0" y="13373"/>
                    <a:pt x="13373" y="0"/>
                    <a:pt x="29869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693406" cy="375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003521" y="4439431"/>
            <a:ext cx="4255779" cy="199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Technical Lead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Drives frontend architecture, prototype development, and technical implementation of the HallPass platform.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33140" y="3450715"/>
            <a:ext cx="420315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3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Khaing Zin Thet (6807597)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3455" y="3450715"/>
            <a:ext cx="501769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3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Htet Htet Myint Zaw(6808360)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23050" y="3450715"/>
            <a:ext cx="436010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3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Yousel Zangmo(6807458)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531427" y="840451"/>
            <a:ext cx="3501432" cy="603997"/>
          </a:xfrm>
          <a:custGeom>
            <a:avLst/>
            <a:gdLst/>
            <a:ahLst/>
            <a:cxnLst/>
            <a:rect r="r" b="b" t="t" l="l"/>
            <a:pathLst>
              <a:path h="603997" w="3501432">
                <a:moveTo>
                  <a:pt x="0" y="0"/>
                </a:moveTo>
                <a:lnTo>
                  <a:pt x="3501432" y="0"/>
                </a:lnTo>
                <a:lnTo>
                  <a:pt x="3501432" y="603997"/>
                </a:lnTo>
                <a:lnTo>
                  <a:pt x="0" y="6039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55430" y="1009099"/>
            <a:ext cx="302687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b="true" sz="1798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TriByte Team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6153185" y="235882"/>
            <a:ext cx="1608666" cy="1591415"/>
          </a:xfrm>
          <a:custGeom>
            <a:avLst/>
            <a:gdLst/>
            <a:ahLst/>
            <a:cxnLst/>
            <a:rect r="r" b="b" t="t" l="l"/>
            <a:pathLst>
              <a:path h="1591415" w="1608666">
                <a:moveTo>
                  <a:pt x="0" y="0"/>
                </a:moveTo>
                <a:lnTo>
                  <a:pt x="1608666" y="0"/>
                </a:lnTo>
                <a:lnTo>
                  <a:pt x="1608666" y="1591415"/>
                </a:lnTo>
                <a:lnTo>
                  <a:pt x="0" y="15914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477840" y="5938825"/>
            <a:ext cx="6302016" cy="3621100"/>
            <a:chOff x="0" y="0"/>
            <a:chExt cx="815911" cy="4688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5911" cy="468818"/>
            </a:xfrm>
            <a:custGeom>
              <a:avLst/>
              <a:gdLst/>
              <a:ahLst/>
              <a:cxnLst/>
              <a:rect r="r" b="b" t="t" l="l"/>
              <a:pathLst>
                <a:path h="468818" w="815911">
                  <a:moveTo>
                    <a:pt x="23994" y="0"/>
                  </a:moveTo>
                  <a:lnTo>
                    <a:pt x="791917" y="0"/>
                  </a:lnTo>
                  <a:cubicBezTo>
                    <a:pt x="798281" y="0"/>
                    <a:pt x="804384" y="2528"/>
                    <a:pt x="808884" y="7028"/>
                  </a:cubicBezTo>
                  <a:cubicBezTo>
                    <a:pt x="813383" y="11527"/>
                    <a:pt x="815911" y="17630"/>
                    <a:pt x="815911" y="23994"/>
                  </a:cubicBezTo>
                  <a:lnTo>
                    <a:pt x="815911" y="444824"/>
                  </a:lnTo>
                  <a:cubicBezTo>
                    <a:pt x="815911" y="458075"/>
                    <a:pt x="805169" y="468818"/>
                    <a:pt x="791917" y="468818"/>
                  </a:cubicBezTo>
                  <a:lnTo>
                    <a:pt x="23994" y="468818"/>
                  </a:lnTo>
                  <a:cubicBezTo>
                    <a:pt x="17630" y="468818"/>
                    <a:pt x="11527" y="466290"/>
                    <a:pt x="7028" y="461790"/>
                  </a:cubicBezTo>
                  <a:cubicBezTo>
                    <a:pt x="2528" y="457290"/>
                    <a:pt x="0" y="451187"/>
                    <a:pt x="0" y="444824"/>
                  </a:cubicBezTo>
                  <a:lnTo>
                    <a:pt x="0" y="23994"/>
                  </a:lnTo>
                  <a:cubicBezTo>
                    <a:pt x="0" y="10742"/>
                    <a:pt x="10742" y="0"/>
                    <a:pt x="2399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815911" cy="449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226491" y="1394529"/>
            <a:ext cx="5180148" cy="4129320"/>
            <a:chOff x="0" y="0"/>
            <a:chExt cx="670665" cy="5346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0665" cy="534616"/>
            </a:xfrm>
            <a:custGeom>
              <a:avLst/>
              <a:gdLst/>
              <a:ahLst/>
              <a:cxnLst/>
              <a:rect r="r" b="b" t="t" l="l"/>
              <a:pathLst>
                <a:path h="534616" w="670665">
                  <a:moveTo>
                    <a:pt x="29190" y="0"/>
                  </a:moveTo>
                  <a:lnTo>
                    <a:pt x="641475" y="0"/>
                  </a:lnTo>
                  <a:cubicBezTo>
                    <a:pt x="657596" y="0"/>
                    <a:pt x="670665" y="13069"/>
                    <a:pt x="670665" y="29190"/>
                  </a:cubicBezTo>
                  <a:lnTo>
                    <a:pt x="670665" y="505426"/>
                  </a:lnTo>
                  <a:cubicBezTo>
                    <a:pt x="670665" y="521547"/>
                    <a:pt x="657596" y="534616"/>
                    <a:pt x="641475" y="534616"/>
                  </a:cubicBezTo>
                  <a:lnTo>
                    <a:pt x="29190" y="534616"/>
                  </a:lnTo>
                  <a:cubicBezTo>
                    <a:pt x="21448" y="534616"/>
                    <a:pt x="14024" y="531541"/>
                    <a:pt x="8550" y="526066"/>
                  </a:cubicBezTo>
                  <a:cubicBezTo>
                    <a:pt x="3075" y="520592"/>
                    <a:pt x="0" y="513168"/>
                    <a:pt x="0" y="505426"/>
                  </a:cubicBezTo>
                  <a:lnTo>
                    <a:pt x="0" y="29190"/>
                  </a:lnTo>
                  <a:cubicBezTo>
                    <a:pt x="0" y="21448"/>
                    <a:pt x="3075" y="14024"/>
                    <a:pt x="8550" y="8550"/>
                  </a:cubicBezTo>
                  <a:cubicBezTo>
                    <a:pt x="14024" y="3075"/>
                    <a:pt x="21448" y="0"/>
                    <a:pt x="29190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670665" cy="515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77840" y="1401709"/>
            <a:ext cx="5180148" cy="4129320"/>
            <a:chOff x="0" y="0"/>
            <a:chExt cx="670665" cy="5346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0665" cy="534616"/>
            </a:xfrm>
            <a:custGeom>
              <a:avLst/>
              <a:gdLst/>
              <a:ahLst/>
              <a:cxnLst/>
              <a:rect r="r" b="b" t="t" l="l"/>
              <a:pathLst>
                <a:path h="534616" w="670665">
                  <a:moveTo>
                    <a:pt x="29190" y="0"/>
                  </a:moveTo>
                  <a:lnTo>
                    <a:pt x="641475" y="0"/>
                  </a:lnTo>
                  <a:cubicBezTo>
                    <a:pt x="657596" y="0"/>
                    <a:pt x="670665" y="13069"/>
                    <a:pt x="670665" y="29190"/>
                  </a:cubicBezTo>
                  <a:lnTo>
                    <a:pt x="670665" y="505426"/>
                  </a:lnTo>
                  <a:cubicBezTo>
                    <a:pt x="670665" y="521547"/>
                    <a:pt x="657596" y="534616"/>
                    <a:pt x="641475" y="534616"/>
                  </a:cubicBezTo>
                  <a:lnTo>
                    <a:pt x="29190" y="534616"/>
                  </a:lnTo>
                  <a:cubicBezTo>
                    <a:pt x="21448" y="534616"/>
                    <a:pt x="14024" y="531541"/>
                    <a:pt x="8550" y="526066"/>
                  </a:cubicBezTo>
                  <a:cubicBezTo>
                    <a:pt x="3075" y="520592"/>
                    <a:pt x="0" y="513168"/>
                    <a:pt x="0" y="505426"/>
                  </a:cubicBezTo>
                  <a:lnTo>
                    <a:pt x="0" y="29190"/>
                  </a:lnTo>
                  <a:cubicBezTo>
                    <a:pt x="0" y="21448"/>
                    <a:pt x="3075" y="14024"/>
                    <a:pt x="8550" y="8550"/>
                  </a:cubicBezTo>
                  <a:cubicBezTo>
                    <a:pt x="14024" y="3075"/>
                    <a:pt x="21448" y="0"/>
                    <a:pt x="29190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670665" cy="515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5168419" y="-4763231"/>
            <a:ext cx="12883914" cy="8229600"/>
          </a:xfrm>
          <a:custGeom>
            <a:avLst/>
            <a:gdLst/>
            <a:ahLst/>
            <a:cxnLst/>
            <a:rect r="r" b="b" t="t" l="l"/>
            <a:pathLst>
              <a:path h="8229600" w="12883914">
                <a:moveTo>
                  <a:pt x="0" y="0"/>
                </a:moveTo>
                <a:lnTo>
                  <a:pt x="12883914" y="0"/>
                </a:lnTo>
                <a:lnTo>
                  <a:pt x="1288391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26491" y="5523849"/>
            <a:ext cx="13009978" cy="13004557"/>
          </a:xfrm>
          <a:custGeom>
            <a:avLst/>
            <a:gdLst/>
            <a:ahLst/>
            <a:cxnLst/>
            <a:rect r="r" b="b" t="t" l="l"/>
            <a:pathLst>
              <a:path h="13004557" w="13009978">
                <a:moveTo>
                  <a:pt x="0" y="0"/>
                </a:moveTo>
                <a:lnTo>
                  <a:pt x="13009978" y="0"/>
                </a:lnTo>
                <a:lnTo>
                  <a:pt x="13009978" y="13004557"/>
                </a:lnTo>
                <a:lnTo>
                  <a:pt x="0" y="130045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2675422" y="3459189"/>
            <a:ext cx="9330587" cy="9194516"/>
          </a:xfrm>
          <a:custGeom>
            <a:avLst/>
            <a:gdLst/>
            <a:ahLst/>
            <a:cxnLst/>
            <a:rect r="r" b="b" t="t" l="l"/>
            <a:pathLst>
              <a:path h="9194516" w="9330587">
                <a:moveTo>
                  <a:pt x="0" y="0"/>
                </a:moveTo>
                <a:lnTo>
                  <a:pt x="9330587" y="0"/>
                </a:lnTo>
                <a:lnTo>
                  <a:pt x="9330587" y="9194516"/>
                </a:lnTo>
                <a:lnTo>
                  <a:pt x="0" y="91945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602093" y="4535018"/>
            <a:ext cx="3988142" cy="3521430"/>
            <a:chOff x="0" y="0"/>
            <a:chExt cx="617867" cy="5455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7868" cy="545562"/>
            </a:xfrm>
            <a:custGeom>
              <a:avLst/>
              <a:gdLst/>
              <a:ahLst/>
              <a:cxnLst/>
              <a:rect r="r" b="b" t="t" l="l"/>
              <a:pathLst>
                <a:path h="545562" w="617868">
                  <a:moveTo>
                    <a:pt x="44648" y="0"/>
                  </a:moveTo>
                  <a:lnTo>
                    <a:pt x="573219" y="0"/>
                  </a:lnTo>
                  <a:cubicBezTo>
                    <a:pt x="597878" y="0"/>
                    <a:pt x="617868" y="19990"/>
                    <a:pt x="617868" y="44648"/>
                  </a:cubicBezTo>
                  <a:lnTo>
                    <a:pt x="617868" y="500913"/>
                  </a:lnTo>
                  <a:cubicBezTo>
                    <a:pt x="617868" y="525572"/>
                    <a:pt x="597878" y="545562"/>
                    <a:pt x="573219" y="545562"/>
                  </a:cubicBezTo>
                  <a:lnTo>
                    <a:pt x="44648" y="545562"/>
                  </a:lnTo>
                  <a:cubicBezTo>
                    <a:pt x="19990" y="545562"/>
                    <a:pt x="0" y="525572"/>
                    <a:pt x="0" y="500913"/>
                  </a:cubicBezTo>
                  <a:lnTo>
                    <a:pt x="0" y="44648"/>
                  </a:lnTo>
                  <a:cubicBezTo>
                    <a:pt x="0" y="19990"/>
                    <a:pt x="19990" y="0"/>
                    <a:pt x="44648" y="0"/>
                  </a:cubicBezTo>
                  <a:close/>
                </a:path>
              </a:pathLst>
            </a:custGeom>
            <a:blipFill>
              <a:blip r:embed="rId6"/>
              <a:stretch>
                <a:fillRect l="-26" t="0" r="-26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1524" y="5938825"/>
            <a:ext cx="3827776" cy="3379831"/>
            <a:chOff x="0" y="0"/>
            <a:chExt cx="617867" cy="5455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7868" cy="545562"/>
            </a:xfrm>
            <a:custGeom>
              <a:avLst/>
              <a:gdLst/>
              <a:ahLst/>
              <a:cxnLst/>
              <a:rect r="r" b="b" t="t" l="l"/>
              <a:pathLst>
                <a:path h="545562" w="617868">
                  <a:moveTo>
                    <a:pt x="46519" y="0"/>
                  </a:moveTo>
                  <a:lnTo>
                    <a:pt x="571349" y="0"/>
                  </a:lnTo>
                  <a:cubicBezTo>
                    <a:pt x="583686" y="0"/>
                    <a:pt x="595518" y="4901"/>
                    <a:pt x="604242" y="13625"/>
                  </a:cubicBezTo>
                  <a:cubicBezTo>
                    <a:pt x="612966" y="22349"/>
                    <a:pt x="617868" y="34181"/>
                    <a:pt x="617868" y="46519"/>
                  </a:cubicBezTo>
                  <a:lnTo>
                    <a:pt x="617868" y="499043"/>
                  </a:lnTo>
                  <a:cubicBezTo>
                    <a:pt x="617868" y="524734"/>
                    <a:pt x="597040" y="545562"/>
                    <a:pt x="571349" y="545562"/>
                  </a:cubicBezTo>
                  <a:lnTo>
                    <a:pt x="46519" y="545562"/>
                  </a:lnTo>
                  <a:cubicBezTo>
                    <a:pt x="20827" y="545562"/>
                    <a:pt x="0" y="524734"/>
                    <a:pt x="0" y="499043"/>
                  </a:cubicBezTo>
                  <a:lnTo>
                    <a:pt x="0" y="46519"/>
                  </a:lnTo>
                  <a:cubicBezTo>
                    <a:pt x="0" y="20827"/>
                    <a:pt x="20827" y="0"/>
                    <a:pt x="46519" y="0"/>
                  </a:cubicBezTo>
                  <a:close/>
                </a:path>
              </a:pathLst>
            </a:custGeom>
            <a:blipFill>
              <a:blip r:embed="rId7"/>
              <a:stretch>
                <a:fillRect l="-26" t="0" r="-26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07863" y="1357233"/>
            <a:ext cx="5763351" cy="24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9"/>
              </a:lnSpc>
              <a:spcBef>
                <a:spcPct val="0"/>
              </a:spcBef>
            </a:pPr>
            <a:r>
              <a:rPr lang="en-US" b="true" sz="8566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Problem &amp; Target Users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20202" y="2464435"/>
            <a:ext cx="3895423" cy="267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Core Problem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Scattered, incomplete, and outdated campus information about dormitories, cafeterias, and daily life spread across multiple sources — leaving new students overwhelmed and underinformed.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29119" y="1104900"/>
            <a:ext cx="1477591" cy="126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83"/>
              </a:lnSpc>
              <a:spcBef>
                <a:spcPct val="0"/>
              </a:spcBef>
            </a:pPr>
            <a:r>
              <a:rPr lang="en-US" sz="8813">
                <a:solidFill>
                  <a:srgbClr val="000000"/>
                </a:solidFill>
                <a:latin typeface="Rosario"/>
                <a:ea typeface="Rosario"/>
                <a:cs typeface="Rosario"/>
                <a:sym typeface="Rosario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42129" y="1104900"/>
            <a:ext cx="1737708" cy="126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83"/>
              </a:lnSpc>
              <a:spcBef>
                <a:spcPct val="0"/>
              </a:spcBef>
            </a:pPr>
            <a:r>
              <a:rPr lang="en-US" sz="8813" strike="noStrike" u="none">
                <a:solidFill>
                  <a:srgbClr val="000000"/>
                </a:solidFill>
                <a:latin typeface="Rosario"/>
                <a:ea typeface="Rosario"/>
                <a:cs typeface="Rosario"/>
                <a:sym typeface="Rosario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21412" y="2464435"/>
            <a:ext cx="4779141" cy="262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Target Users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First-year, international &amp; exchange students (primary)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Senior students contributing experience-based advice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Administrators moderating content quality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00147" y="6233630"/>
            <a:ext cx="5657402" cy="299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Discovery Evidence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13/20 respondents spent 30+ minutes searching for basic campus info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8/20 identified scattered information as their biggest problem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16/20 said they would use HallPass if it existed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All international/exchange respondents flagged language barriers as a key challenge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511415" y="925830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6944838" y="131865"/>
            <a:ext cx="1171253" cy="1158693"/>
          </a:xfrm>
          <a:custGeom>
            <a:avLst/>
            <a:gdLst/>
            <a:ahLst/>
            <a:cxnLst/>
            <a:rect r="r" b="b" t="t" l="l"/>
            <a:pathLst>
              <a:path h="1158693" w="1171253">
                <a:moveTo>
                  <a:pt x="0" y="0"/>
                </a:moveTo>
                <a:lnTo>
                  <a:pt x="1171253" y="0"/>
                </a:lnTo>
                <a:lnTo>
                  <a:pt x="1171253" y="1158693"/>
                </a:lnTo>
                <a:lnTo>
                  <a:pt x="0" y="11586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125843" y="5638553"/>
            <a:ext cx="6133457" cy="3092501"/>
            <a:chOff x="0" y="0"/>
            <a:chExt cx="888833" cy="4481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8833" cy="448152"/>
            </a:xfrm>
            <a:custGeom>
              <a:avLst/>
              <a:gdLst/>
              <a:ahLst/>
              <a:cxnLst/>
              <a:rect r="r" b="b" t="t" l="l"/>
              <a:pathLst>
                <a:path h="448152" w="888833">
                  <a:moveTo>
                    <a:pt x="24653" y="0"/>
                  </a:moveTo>
                  <a:lnTo>
                    <a:pt x="864180" y="0"/>
                  </a:lnTo>
                  <a:cubicBezTo>
                    <a:pt x="870719" y="0"/>
                    <a:pt x="876989" y="2597"/>
                    <a:pt x="881613" y="7221"/>
                  </a:cubicBezTo>
                  <a:cubicBezTo>
                    <a:pt x="886236" y="11844"/>
                    <a:pt x="888833" y="18115"/>
                    <a:pt x="888833" y="24653"/>
                  </a:cubicBezTo>
                  <a:lnTo>
                    <a:pt x="888833" y="423498"/>
                  </a:lnTo>
                  <a:cubicBezTo>
                    <a:pt x="888833" y="430037"/>
                    <a:pt x="886236" y="436307"/>
                    <a:pt x="881613" y="440931"/>
                  </a:cubicBezTo>
                  <a:cubicBezTo>
                    <a:pt x="876989" y="445554"/>
                    <a:pt x="870719" y="448152"/>
                    <a:pt x="864180" y="448152"/>
                  </a:cubicBezTo>
                  <a:lnTo>
                    <a:pt x="24653" y="448152"/>
                  </a:lnTo>
                  <a:cubicBezTo>
                    <a:pt x="18115" y="448152"/>
                    <a:pt x="11844" y="445554"/>
                    <a:pt x="7221" y="440931"/>
                  </a:cubicBezTo>
                  <a:cubicBezTo>
                    <a:pt x="2597" y="436307"/>
                    <a:pt x="0" y="430037"/>
                    <a:pt x="0" y="423498"/>
                  </a:cubicBezTo>
                  <a:lnTo>
                    <a:pt x="0" y="24653"/>
                  </a:lnTo>
                  <a:cubicBezTo>
                    <a:pt x="0" y="18115"/>
                    <a:pt x="2597" y="11844"/>
                    <a:pt x="7221" y="7221"/>
                  </a:cubicBezTo>
                  <a:cubicBezTo>
                    <a:pt x="11844" y="2597"/>
                    <a:pt x="18115" y="0"/>
                    <a:pt x="24653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888833" cy="429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125843" y="2209678"/>
            <a:ext cx="6133457" cy="3092501"/>
            <a:chOff x="0" y="0"/>
            <a:chExt cx="888833" cy="4481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8833" cy="448152"/>
            </a:xfrm>
            <a:custGeom>
              <a:avLst/>
              <a:gdLst/>
              <a:ahLst/>
              <a:cxnLst/>
              <a:rect r="r" b="b" t="t" l="l"/>
              <a:pathLst>
                <a:path h="448152" w="888833">
                  <a:moveTo>
                    <a:pt x="24653" y="0"/>
                  </a:moveTo>
                  <a:lnTo>
                    <a:pt x="864180" y="0"/>
                  </a:lnTo>
                  <a:cubicBezTo>
                    <a:pt x="870719" y="0"/>
                    <a:pt x="876989" y="2597"/>
                    <a:pt x="881613" y="7221"/>
                  </a:cubicBezTo>
                  <a:cubicBezTo>
                    <a:pt x="886236" y="11844"/>
                    <a:pt x="888833" y="18115"/>
                    <a:pt x="888833" y="24653"/>
                  </a:cubicBezTo>
                  <a:lnTo>
                    <a:pt x="888833" y="423498"/>
                  </a:lnTo>
                  <a:cubicBezTo>
                    <a:pt x="888833" y="430037"/>
                    <a:pt x="886236" y="436307"/>
                    <a:pt x="881613" y="440931"/>
                  </a:cubicBezTo>
                  <a:cubicBezTo>
                    <a:pt x="876989" y="445554"/>
                    <a:pt x="870719" y="448152"/>
                    <a:pt x="864180" y="448152"/>
                  </a:cubicBezTo>
                  <a:lnTo>
                    <a:pt x="24653" y="448152"/>
                  </a:lnTo>
                  <a:cubicBezTo>
                    <a:pt x="18115" y="448152"/>
                    <a:pt x="11844" y="445554"/>
                    <a:pt x="7221" y="440931"/>
                  </a:cubicBezTo>
                  <a:cubicBezTo>
                    <a:pt x="2597" y="436307"/>
                    <a:pt x="0" y="430037"/>
                    <a:pt x="0" y="423498"/>
                  </a:cubicBezTo>
                  <a:lnTo>
                    <a:pt x="0" y="24653"/>
                  </a:lnTo>
                  <a:cubicBezTo>
                    <a:pt x="0" y="18115"/>
                    <a:pt x="2597" y="11844"/>
                    <a:pt x="7221" y="7221"/>
                  </a:cubicBezTo>
                  <a:cubicBezTo>
                    <a:pt x="11844" y="2597"/>
                    <a:pt x="18115" y="0"/>
                    <a:pt x="24653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888833" cy="429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13948176" y="-11827059"/>
            <a:ext cx="24910508" cy="24910508"/>
          </a:xfrm>
          <a:custGeom>
            <a:avLst/>
            <a:gdLst/>
            <a:ahLst/>
            <a:cxnLst/>
            <a:rect r="r" b="b" t="t" l="l"/>
            <a:pathLst>
              <a:path h="24910508" w="24910508">
                <a:moveTo>
                  <a:pt x="0" y="0"/>
                </a:moveTo>
                <a:lnTo>
                  <a:pt x="24910508" y="0"/>
                </a:lnTo>
                <a:lnTo>
                  <a:pt x="24910508" y="24910508"/>
                </a:lnTo>
                <a:lnTo>
                  <a:pt x="0" y="24910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23048" y="549392"/>
            <a:ext cx="15723360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6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Evidence from Discovery &amp; Validation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61674" y="3010715"/>
            <a:ext cx="6427051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20 survey responses collected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13/20 spent 30+ min searching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8/20: scattered info = #1 problem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16/20 would use HallPass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Campus Survival Guide identified as core feature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All international students flagged language barriers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68300" y="6290032"/>
            <a:ext cx="4255779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200 task attempts recorded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85.0% overall task completion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Ease of Use: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3.99/5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Usefulness: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4.30/5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Interest: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4.34/5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Survival Guide: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92.9% | </a:t>
            </a: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Dorm: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89.7% | </a:t>
            </a: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Cafe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: 89.7%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68300" y="5819952"/>
            <a:ext cx="273474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4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Usability Testing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61674" y="2593433"/>
            <a:ext cx="381251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4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Customer Discovery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970" y="1960703"/>
            <a:ext cx="10004605" cy="7355701"/>
          </a:xfrm>
          <a:prstGeom prst="rect">
            <a:avLst/>
          </a:prstGeom>
        </p:spPr>
      </p:pic>
      <p:sp>
        <p:nvSpPr>
          <p:cNvPr name="Freeform 17" id="17"/>
          <p:cNvSpPr/>
          <p:nvPr/>
        </p:nvSpPr>
        <p:spPr>
          <a:xfrm flipH="false" flipV="false" rot="0">
            <a:off x="16925788" y="131865"/>
            <a:ext cx="1171253" cy="1158693"/>
          </a:xfrm>
          <a:custGeom>
            <a:avLst/>
            <a:gdLst/>
            <a:ahLst/>
            <a:cxnLst/>
            <a:rect r="r" b="b" t="t" l="l"/>
            <a:pathLst>
              <a:path h="1158693" w="1171253">
                <a:moveTo>
                  <a:pt x="0" y="0"/>
                </a:moveTo>
                <a:lnTo>
                  <a:pt x="1171253" y="0"/>
                </a:lnTo>
                <a:lnTo>
                  <a:pt x="1171253" y="1158693"/>
                </a:lnTo>
                <a:lnTo>
                  <a:pt x="0" y="1158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5839">
            <a:off x="7383139" y="-10236938"/>
            <a:ext cx="14415255" cy="14415255"/>
          </a:xfrm>
          <a:custGeom>
            <a:avLst/>
            <a:gdLst/>
            <a:ahLst/>
            <a:cxnLst/>
            <a:rect r="r" b="b" t="t" l="l"/>
            <a:pathLst>
              <a:path h="14415255" w="14415255">
                <a:moveTo>
                  <a:pt x="0" y="0"/>
                </a:moveTo>
                <a:lnTo>
                  <a:pt x="14415254" y="0"/>
                </a:lnTo>
                <a:lnTo>
                  <a:pt x="14415254" y="14415255"/>
                </a:lnTo>
                <a:lnTo>
                  <a:pt x="0" y="144152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05678" y="1128421"/>
            <a:ext cx="10227271" cy="7166855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375095" y="658111"/>
            <a:ext cx="8711985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434"/>
              </a:lnSpc>
              <a:spcBef>
                <a:spcPct val="0"/>
              </a:spcBef>
            </a:pPr>
            <a:r>
              <a:rPr lang="en-US" b="true" sz="8499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6181" y="2976394"/>
            <a:ext cx="7077296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HallPass is a browser-based platform combining campus reviews, survival guides, contribution tools, student status tracking, and moderated content — no app installation required.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6181" y="4330849"/>
            <a:ext cx="348774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4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Value Propositions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6181" y="5102374"/>
            <a:ext cx="7354964" cy="344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Centralized Campus Info: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dormitories, cafeterias, and survival guides in one place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Faster Decisions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: search, filters, ratings, saved places, and Maps links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Student-Driven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Knowledge: verified senior reviews and shared experiences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Trust &amp; Transparency: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review status, verification, and moderation workflow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Accessible Entry: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responsive web access, no installation needed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96181" y="2261694"/>
            <a:ext cx="349733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4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HallPass Platform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55971" y="8552329"/>
            <a:ext cx="1178176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"HallPass reduces uncertainty by bringing student experiences, reviewed place information, and practical campus guidance into one accessible platform."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899899" y="131865"/>
            <a:ext cx="1171253" cy="1158693"/>
          </a:xfrm>
          <a:custGeom>
            <a:avLst/>
            <a:gdLst/>
            <a:ahLst/>
            <a:cxnLst/>
            <a:rect r="r" b="b" t="t" l="l"/>
            <a:pathLst>
              <a:path h="1158693" w="1171253">
                <a:moveTo>
                  <a:pt x="0" y="0"/>
                </a:moveTo>
                <a:lnTo>
                  <a:pt x="1171253" y="0"/>
                </a:lnTo>
                <a:lnTo>
                  <a:pt x="1171253" y="1158693"/>
                </a:lnTo>
                <a:lnTo>
                  <a:pt x="0" y="1158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511801" y="-3805495"/>
            <a:ext cx="12883914" cy="8229600"/>
          </a:xfrm>
          <a:custGeom>
            <a:avLst/>
            <a:gdLst/>
            <a:ahLst/>
            <a:cxnLst/>
            <a:rect r="r" b="b" t="t" l="l"/>
            <a:pathLst>
              <a:path h="8229600" w="12883914">
                <a:moveTo>
                  <a:pt x="0" y="0"/>
                </a:moveTo>
                <a:lnTo>
                  <a:pt x="12883914" y="0"/>
                </a:lnTo>
                <a:lnTo>
                  <a:pt x="1288391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57988" y="3900436"/>
            <a:ext cx="13009978" cy="13004557"/>
          </a:xfrm>
          <a:custGeom>
            <a:avLst/>
            <a:gdLst/>
            <a:ahLst/>
            <a:cxnLst/>
            <a:rect r="r" b="b" t="t" l="l"/>
            <a:pathLst>
              <a:path h="13004557" w="13009978">
                <a:moveTo>
                  <a:pt x="0" y="0"/>
                </a:moveTo>
                <a:lnTo>
                  <a:pt x="13009978" y="0"/>
                </a:lnTo>
                <a:lnTo>
                  <a:pt x="13009978" y="13004557"/>
                </a:lnTo>
                <a:lnTo>
                  <a:pt x="0" y="130045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675422" y="3459189"/>
            <a:ext cx="9330587" cy="9194516"/>
          </a:xfrm>
          <a:custGeom>
            <a:avLst/>
            <a:gdLst/>
            <a:ahLst/>
            <a:cxnLst/>
            <a:rect r="r" b="b" t="t" l="l"/>
            <a:pathLst>
              <a:path h="9194516" w="9330587">
                <a:moveTo>
                  <a:pt x="0" y="0"/>
                </a:moveTo>
                <a:lnTo>
                  <a:pt x="9330587" y="0"/>
                </a:lnTo>
                <a:lnTo>
                  <a:pt x="9330587" y="9194516"/>
                </a:lnTo>
                <a:lnTo>
                  <a:pt x="0" y="91945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40218" y="2601502"/>
            <a:ext cx="8731895" cy="5932675"/>
            <a:chOff x="0" y="0"/>
            <a:chExt cx="13271500" cy="901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0" y="1372870"/>
              <a:ext cx="12934951" cy="7302500"/>
            </a:xfrm>
            <a:custGeom>
              <a:avLst/>
              <a:gdLst/>
              <a:ahLst/>
              <a:cxnLst/>
              <a:rect r="r" b="b" t="t" l="l"/>
              <a:pathLst>
                <a:path h="7302500" w="12934951">
                  <a:moveTo>
                    <a:pt x="0" y="0"/>
                  </a:moveTo>
                  <a:lnTo>
                    <a:pt x="12934951" y="0"/>
                  </a:lnTo>
                  <a:lnTo>
                    <a:pt x="12934951" y="7302500"/>
                  </a:lnTo>
                  <a:lnTo>
                    <a:pt x="0" y="7302500"/>
                  </a:lnTo>
                  <a:close/>
                </a:path>
              </a:pathLst>
            </a:custGeom>
            <a:blipFill>
              <a:blip r:embed="rId6"/>
              <a:stretch>
                <a:fillRect l="-2024" t="-20478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271500" cy="9017000"/>
            </a:xfrm>
            <a:custGeom>
              <a:avLst/>
              <a:gdLst/>
              <a:ahLst/>
              <a:cxnLst/>
              <a:rect r="r" b="b" t="t" l="l"/>
              <a:pathLst>
                <a:path h="9017000" w="13271500">
                  <a:moveTo>
                    <a:pt x="0" y="0"/>
                  </a:moveTo>
                  <a:lnTo>
                    <a:pt x="13271500" y="0"/>
                  </a:lnTo>
                  <a:lnTo>
                    <a:pt x="13271500" y="9017000"/>
                  </a:lnTo>
                  <a:lnTo>
                    <a:pt x="0" y="9017000"/>
                  </a:lnTo>
                  <a:close/>
                </a:path>
              </a:pathLst>
            </a:custGeom>
          </p:spPr>
        </p:sp>
      </p:grpSp>
      <p:sp>
        <p:nvSpPr>
          <p:cNvPr name="TextBox 9" id="9"/>
          <p:cNvSpPr txBox="true"/>
          <p:nvPr/>
        </p:nvSpPr>
        <p:spPr>
          <a:xfrm rot="0">
            <a:off x="3930156" y="821046"/>
            <a:ext cx="9195950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15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Prototype Demo 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094801" y="3823137"/>
            <a:ext cx="5691978" cy="3191443"/>
            <a:chOff x="0" y="0"/>
            <a:chExt cx="7589304" cy="425525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589304" cy="4255257"/>
              <a:chOff x="0" y="0"/>
              <a:chExt cx="649425" cy="36412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49425" cy="364127"/>
              </a:xfrm>
              <a:custGeom>
                <a:avLst/>
                <a:gdLst/>
                <a:ahLst/>
                <a:cxnLst/>
                <a:rect r="r" b="b" t="t" l="l"/>
                <a:pathLst>
                  <a:path h="364127" w="649425">
                    <a:moveTo>
                      <a:pt x="30145" y="0"/>
                    </a:moveTo>
                    <a:lnTo>
                      <a:pt x="619280" y="0"/>
                    </a:lnTo>
                    <a:cubicBezTo>
                      <a:pt x="627275" y="0"/>
                      <a:pt x="634943" y="3176"/>
                      <a:pt x="640596" y="8829"/>
                    </a:cubicBezTo>
                    <a:cubicBezTo>
                      <a:pt x="646249" y="14482"/>
                      <a:pt x="649425" y="22150"/>
                      <a:pt x="649425" y="30145"/>
                    </a:cubicBezTo>
                    <a:lnTo>
                      <a:pt x="649425" y="333982"/>
                    </a:lnTo>
                    <a:cubicBezTo>
                      <a:pt x="649425" y="350631"/>
                      <a:pt x="635929" y="364127"/>
                      <a:pt x="619280" y="364127"/>
                    </a:cubicBezTo>
                    <a:lnTo>
                      <a:pt x="30145" y="364127"/>
                    </a:lnTo>
                    <a:cubicBezTo>
                      <a:pt x="22150" y="364127"/>
                      <a:pt x="14482" y="360951"/>
                      <a:pt x="8829" y="355298"/>
                    </a:cubicBezTo>
                    <a:cubicBezTo>
                      <a:pt x="3176" y="349645"/>
                      <a:pt x="0" y="341977"/>
                      <a:pt x="0" y="333982"/>
                    </a:cubicBezTo>
                    <a:lnTo>
                      <a:pt x="0" y="30145"/>
                    </a:lnTo>
                    <a:cubicBezTo>
                      <a:pt x="0" y="13496"/>
                      <a:pt x="13496" y="0"/>
                      <a:pt x="30145" y="0"/>
                    </a:cubicBezTo>
                    <a:close/>
                  </a:path>
                </a:pathLst>
              </a:custGeom>
              <a:solidFill>
                <a:srgbClr val="FCFE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649425" cy="345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774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50836" y="420299"/>
              <a:ext cx="6717551" cy="3347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042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Comp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l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ete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 s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tudent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 a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nd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 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administ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r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at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or pat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hway c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o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ve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r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ing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 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h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om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epage, nav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i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gat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i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o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n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,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 au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th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e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nt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i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cation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, s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to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ra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ge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 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sim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u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lat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i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on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, 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br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o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wsi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n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g, fil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t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e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rin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g,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 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de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t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ai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l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 view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s, su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bmissio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n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s,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 status tracking, 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v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a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lidatio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n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,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 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dashb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o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ar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d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s, r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e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po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rt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s,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 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m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o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d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e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ra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t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i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o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n,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 an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d 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t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r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a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ce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a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i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l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i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ty</a:t>
              </a:r>
              <a:r>
                <a:rPr lang="en-US" b="true" sz="2042" strike="noStrike" u="non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897213" y="131865"/>
            <a:ext cx="1171253" cy="1158693"/>
          </a:xfrm>
          <a:custGeom>
            <a:avLst/>
            <a:gdLst/>
            <a:ahLst/>
            <a:cxnLst/>
            <a:rect r="r" b="b" t="t" l="l"/>
            <a:pathLst>
              <a:path h="1158693" w="1171253">
                <a:moveTo>
                  <a:pt x="0" y="0"/>
                </a:moveTo>
                <a:lnTo>
                  <a:pt x="1171253" y="0"/>
                </a:lnTo>
                <a:lnTo>
                  <a:pt x="1171253" y="1158693"/>
                </a:lnTo>
                <a:lnTo>
                  <a:pt x="0" y="11586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29507" y="5444569"/>
            <a:ext cx="5759460" cy="3813731"/>
            <a:chOff x="0" y="0"/>
            <a:chExt cx="753484" cy="498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3484" cy="498933"/>
            </a:xfrm>
            <a:custGeom>
              <a:avLst/>
              <a:gdLst/>
              <a:ahLst/>
              <a:cxnLst/>
              <a:rect r="r" b="b" t="t" l="l"/>
              <a:pathLst>
                <a:path h="498933" w="753484">
                  <a:moveTo>
                    <a:pt x="26254" y="0"/>
                  </a:moveTo>
                  <a:lnTo>
                    <a:pt x="727230" y="0"/>
                  </a:lnTo>
                  <a:cubicBezTo>
                    <a:pt x="741730" y="0"/>
                    <a:pt x="753484" y="11754"/>
                    <a:pt x="753484" y="26254"/>
                  </a:cubicBezTo>
                  <a:lnTo>
                    <a:pt x="753484" y="472679"/>
                  </a:lnTo>
                  <a:cubicBezTo>
                    <a:pt x="753484" y="487179"/>
                    <a:pt x="741730" y="498933"/>
                    <a:pt x="727230" y="498933"/>
                  </a:cubicBezTo>
                  <a:lnTo>
                    <a:pt x="26254" y="498933"/>
                  </a:lnTo>
                  <a:cubicBezTo>
                    <a:pt x="11754" y="498933"/>
                    <a:pt x="0" y="487179"/>
                    <a:pt x="0" y="472679"/>
                  </a:cubicBezTo>
                  <a:lnTo>
                    <a:pt x="0" y="26254"/>
                  </a:lnTo>
                  <a:cubicBezTo>
                    <a:pt x="0" y="11754"/>
                    <a:pt x="11754" y="0"/>
                    <a:pt x="2625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753484" cy="479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637656" y="2288118"/>
            <a:ext cx="5130072" cy="3513822"/>
            <a:chOff x="0" y="0"/>
            <a:chExt cx="649402" cy="444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9402" cy="444805"/>
            </a:xfrm>
            <a:custGeom>
              <a:avLst/>
              <a:gdLst/>
              <a:ahLst/>
              <a:cxnLst/>
              <a:rect r="r" b="b" t="t" l="l"/>
              <a:pathLst>
                <a:path h="444805" w="649402">
                  <a:moveTo>
                    <a:pt x="29475" y="0"/>
                  </a:moveTo>
                  <a:lnTo>
                    <a:pt x="619927" y="0"/>
                  </a:lnTo>
                  <a:cubicBezTo>
                    <a:pt x="636206" y="0"/>
                    <a:pt x="649402" y="13196"/>
                    <a:pt x="649402" y="29475"/>
                  </a:cubicBezTo>
                  <a:lnTo>
                    <a:pt x="649402" y="415330"/>
                  </a:lnTo>
                  <a:cubicBezTo>
                    <a:pt x="649402" y="431609"/>
                    <a:pt x="636206" y="444805"/>
                    <a:pt x="619927" y="444805"/>
                  </a:cubicBezTo>
                  <a:lnTo>
                    <a:pt x="29475" y="444805"/>
                  </a:lnTo>
                  <a:cubicBezTo>
                    <a:pt x="13196" y="444805"/>
                    <a:pt x="0" y="431609"/>
                    <a:pt x="0" y="415330"/>
                  </a:cubicBezTo>
                  <a:lnTo>
                    <a:pt x="0" y="29475"/>
                  </a:lnTo>
                  <a:cubicBezTo>
                    <a:pt x="0" y="13196"/>
                    <a:pt x="13196" y="0"/>
                    <a:pt x="29475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649402" cy="425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06472" y="5579912"/>
            <a:ext cx="5300234" cy="3243993"/>
            <a:chOff x="0" y="0"/>
            <a:chExt cx="693406" cy="4243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3406" cy="424397"/>
            </a:xfrm>
            <a:custGeom>
              <a:avLst/>
              <a:gdLst/>
              <a:ahLst/>
              <a:cxnLst/>
              <a:rect r="r" b="b" t="t" l="l"/>
              <a:pathLst>
                <a:path h="424397" w="693406">
                  <a:moveTo>
                    <a:pt x="28529" y="0"/>
                  </a:moveTo>
                  <a:lnTo>
                    <a:pt x="664877" y="0"/>
                  </a:lnTo>
                  <a:cubicBezTo>
                    <a:pt x="680633" y="0"/>
                    <a:pt x="693406" y="12773"/>
                    <a:pt x="693406" y="28529"/>
                  </a:cubicBezTo>
                  <a:lnTo>
                    <a:pt x="693406" y="395868"/>
                  </a:lnTo>
                  <a:cubicBezTo>
                    <a:pt x="693406" y="403435"/>
                    <a:pt x="690400" y="410691"/>
                    <a:pt x="685050" y="416041"/>
                  </a:cubicBezTo>
                  <a:cubicBezTo>
                    <a:pt x="679700" y="421391"/>
                    <a:pt x="672444" y="424397"/>
                    <a:pt x="664877" y="424397"/>
                  </a:cubicBezTo>
                  <a:lnTo>
                    <a:pt x="28529" y="424397"/>
                  </a:lnTo>
                  <a:cubicBezTo>
                    <a:pt x="12773" y="424397"/>
                    <a:pt x="0" y="411624"/>
                    <a:pt x="0" y="395868"/>
                  </a:cubicBezTo>
                  <a:lnTo>
                    <a:pt x="0" y="28529"/>
                  </a:lnTo>
                  <a:cubicBezTo>
                    <a:pt x="0" y="12773"/>
                    <a:pt x="12773" y="0"/>
                    <a:pt x="28529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693406" cy="405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52055" y="2210766"/>
            <a:ext cx="5300234" cy="2932734"/>
            <a:chOff x="0" y="0"/>
            <a:chExt cx="693406" cy="3836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3406" cy="383676"/>
            </a:xfrm>
            <a:custGeom>
              <a:avLst/>
              <a:gdLst/>
              <a:ahLst/>
              <a:cxnLst/>
              <a:rect r="r" b="b" t="t" l="l"/>
              <a:pathLst>
                <a:path h="383676" w="693406">
                  <a:moveTo>
                    <a:pt x="28529" y="0"/>
                  </a:moveTo>
                  <a:lnTo>
                    <a:pt x="664877" y="0"/>
                  </a:lnTo>
                  <a:cubicBezTo>
                    <a:pt x="680633" y="0"/>
                    <a:pt x="693406" y="12773"/>
                    <a:pt x="693406" y="28529"/>
                  </a:cubicBezTo>
                  <a:lnTo>
                    <a:pt x="693406" y="355148"/>
                  </a:lnTo>
                  <a:cubicBezTo>
                    <a:pt x="693406" y="362714"/>
                    <a:pt x="690400" y="369970"/>
                    <a:pt x="685050" y="375321"/>
                  </a:cubicBezTo>
                  <a:cubicBezTo>
                    <a:pt x="679700" y="380671"/>
                    <a:pt x="672444" y="383676"/>
                    <a:pt x="664877" y="383676"/>
                  </a:cubicBezTo>
                  <a:lnTo>
                    <a:pt x="28529" y="383676"/>
                  </a:lnTo>
                  <a:cubicBezTo>
                    <a:pt x="12773" y="383676"/>
                    <a:pt x="0" y="370904"/>
                    <a:pt x="0" y="355148"/>
                  </a:cubicBezTo>
                  <a:lnTo>
                    <a:pt x="0" y="28529"/>
                  </a:lnTo>
                  <a:cubicBezTo>
                    <a:pt x="0" y="12773"/>
                    <a:pt x="12773" y="0"/>
                    <a:pt x="28529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693406" cy="364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424308" y="3345990"/>
            <a:ext cx="24074938" cy="24064906"/>
          </a:xfrm>
          <a:custGeom>
            <a:avLst/>
            <a:gdLst/>
            <a:ahLst/>
            <a:cxnLst/>
            <a:rect r="r" b="b" t="t" l="l"/>
            <a:pathLst>
              <a:path h="24064906" w="24074938">
                <a:moveTo>
                  <a:pt x="0" y="0"/>
                </a:moveTo>
                <a:lnTo>
                  <a:pt x="24074937" y="0"/>
                </a:lnTo>
                <a:lnTo>
                  <a:pt x="24074937" y="24064906"/>
                </a:lnTo>
                <a:lnTo>
                  <a:pt x="0" y="24064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5626144" y="-3023733"/>
            <a:ext cx="11480864" cy="7333402"/>
          </a:xfrm>
          <a:custGeom>
            <a:avLst/>
            <a:gdLst/>
            <a:ahLst/>
            <a:cxnLst/>
            <a:rect r="r" b="b" t="t" l="l"/>
            <a:pathLst>
              <a:path h="7333402" w="11480864">
                <a:moveTo>
                  <a:pt x="0" y="0"/>
                </a:moveTo>
                <a:lnTo>
                  <a:pt x="11480864" y="0"/>
                </a:lnTo>
                <a:lnTo>
                  <a:pt x="11480864" y="7333402"/>
                </a:lnTo>
                <a:lnTo>
                  <a:pt x="0" y="7333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71303" y="6749465"/>
            <a:ext cx="3449097" cy="3537535"/>
          </a:xfrm>
          <a:custGeom>
            <a:avLst/>
            <a:gdLst/>
            <a:ahLst/>
            <a:cxnLst/>
            <a:rect r="r" b="b" t="t" l="l"/>
            <a:pathLst>
              <a:path h="3537535" w="3449097">
                <a:moveTo>
                  <a:pt x="0" y="0"/>
                </a:moveTo>
                <a:lnTo>
                  <a:pt x="3449097" y="0"/>
                </a:lnTo>
                <a:lnTo>
                  <a:pt x="3449097" y="3537535"/>
                </a:lnTo>
                <a:lnTo>
                  <a:pt x="0" y="35375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20272" y="709643"/>
            <a:ext cx="17247456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34"/>
              </a:lnSpc>
              <a:spcBef>
                <a:spcPct val="0"/>
              </a:spcBef>
            </a:pPr>
            <a:r>
              <a:rPr lang="en-US" b="true" sz="8499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Business Model Canvas Summary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78670" y="5754314"/>
            <a:ext cx="5087379" cy="306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Customer Segments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First-year, international &amp; exchange students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Senior student contributors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Administrators moderating content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Value Proposition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Trusted, student-focused campus review &amp; guidance platform with moderation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One centralized starting point for campus life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71303" y="2374979"/>
            <a:ext cx="4255779" cy="306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Key Activities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Platform maintenance &amp; content updates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Review verification &amp; moderation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User testing &amp; community outreach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Key Resources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TriByte team &amp; prototype codebase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Testing data &amp; university partnerships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21865" y="2385169"/>
            <a:ext cx="4560616" cy="217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C</a:t>
            </a:r>
            <a:r>
              <a:rPr lang="en-US" b="true" sz="2499" strike="noStrike" u="none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ustomer Rel</a:t>
            </a:r>
            <a:r>
              <a:rPr lang="en-US" b="true" sz="2499" strike="noStrike" u="none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a</a:t>
            </a:r>
            <a:r>
              <a:rPr lang="en-US" b="true" sz="2499" strike="noStrike" u="none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tio</a:t>
            </a:r>
            <a:r>
              <a:rPr lang="en-US" b="true" sz="2499" strike="noStrike" u="none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n</a:t>
            </a:r>
            <a:r>
              <a:rPr lang="en-US" b="true" sz="2499" strike="noStrike" u="none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ship</a:t>
            </a:r>
            <a:r>
              <a:rPr lang="en-US" b="true" sz="2499" strike="noStrike" u="none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s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•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Self-service browsing &amp; account creation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Stude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 cont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ri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bu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ion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 &amp;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o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tif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ations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Admin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o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er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io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workf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lo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w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5754314"/>
            <a:ext cx="4823661" cy="275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Key Partners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Student Affairs &amp; university IT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International College &amp; student council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Dormitory &amp; cafeteria management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Sustainability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University-supported onboarding &amp; knowledge preservation 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54486" y="2210766"/>
            <a:ext cx="5300234" cy="2991040"/>
            <a:chOff x="0" y="0"/>
            <a:chExt cx="693406" cy="3913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3406" cy="391304"/>
            </a:xfrm>
            <a:custGeom>
              <a:avLst/>
              <a:gdLst/>
              <a:ahLst/>
              <a:cxnLst/>
              <a:rect r="r" b="b" t="t" l="l"/>
              <a:pathLst>
                <a:path h="391304" w="693406">
                  <a:moveTo>
                    <a:pt x="28529" y="0"/>
                  </a:moveTo>
                  <a:lnTo>
                    <a:pt x="664877" y="0"/>
                  </a:lnTo>
                  <a:cubicBezTo>
                    <a:pt x="680633" y="0"/>
                    <a:pt x="693406" y="12773"/>
                    <a:pt x="693406" y="28529"/>
                  </a:cubicBezTo>
                  <a:lnTo>
                    <a:pt x="693406" y="362776"/>
                  </a:lnTo>
                  <a:cubicBezTo>
                    <a:pt x="693406" y="370342"/>
                    <a:pt x="690400" y="377598"/>
                    <a:pt x="685050" y="382949"/>
                  </a:cubicBezTo>
                  <a:cubicBezTo>
                    <a:pt x="679700" y="388299"/>
                    <a:pt x="672444" y="391304"/>
                    <a:pt x="664877" y="391304"/>
                  </a:cubicBezTo>
                  <a:lnTo>
                    <a:pt x="28529" y="391304"/>
                  </a:lnTo>
                  <a:cubicBezTo>
                    <a:pt x="12773" y="391304"/>
                    <a:pt x="0" y="378532"/>
                    <a:pt x="0" y="362776"/>
                  </a:cubicBezTo>
                  <a:lnTo>
                    <a:pt x="0" y="28529"/>
                  </a:lnTo>
                  <a:cubicBezTo>
                    <a:pt x="0" y="12773"/>
                    <a:pt x="12773" y="0"/>
                    <a:pt x="28529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693406" cy="372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8700" y="2385169"/>
            <a:ext cx="4537530" cy="249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Channels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Mobile-friendly website &amp; GitHub Pages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University pages &amp; orientation events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QR posters, LINE, student clubs &amp; social media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6841455" y="128165"/>
            <a:ext cx="1171253" cy="1158693"/>
          </a:xfrm>
          <a:custGeom>
            <a:avLst/>
            <a:gdLst/>
            <a:ahLst/>
            <a:cxnLst/>
            <a:rect r="r" b="b" t="t" l="l"/>
            <a:pathLst>
              <a:path h="1158693" w="1171253">
                <a:moveTo>
                  <a:pt x="0" y="0"/>
                </a:moveTo>
                <a:lnTo>
                  <a:pt x="1171253" y="0"/>
                </a:lnTo>
                <a:lnTo>
                  <a:pt x="1171253" y="1158693"/>
                </a:lnTo>
                <a:lnTo>
                  <a:pt x="0" y="11586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0257" y="7255471"/>
            <a:ext cx="9562429" cy="2534245"/>
            <a:chOff x="0" y="0"/>
            <a:chExt cx="1244319" cy="3297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4319" cy="329771"/>
            </a:xfrm>
            <a:custGeom>
              <a:avLst/>
              <a:gdLst/>
              <a:ahLst/>
              <a:cxnLst/>
              <a:rect r="r" b="b" t="t" l="l"/>
              <a:pathLst>
                <a:path h="329771" w="1244319">
                  <a:moveTo>
                    <a:pt x="15813" y="0"/>
                  </a:moveTo>
                  <a:lnTo>
                    <a:pt x="1228506" y="0"/>
                  </a:lnTo>
                  <a:cubicBezTo>
                    <a:pt x="1232700" y="0"/>
                    <a:pt x="1236722" y="1666"/>
                    <a:pt x="1239687" y="4631"/>
                  </a:cubicBezTo>
                  <a:cubicBezTo>
                    <a:pt x="1242653" y="7597"/>
                    <a:pt x="1244319" y="11619"/>
                    <a:pt x="1244319" y="15813"/>
                  </a:cubicBezTo>
                  <a:lnTo>
                    <a:pt x="1244319" y="313958"/>
                  </a:lnTo>
                  <a:cubicBezTo>
                    <a:pt x="1244319" y="322691"/>
                    <a:pt x="1237239" y="329771"/>
                    <a:pt x="1228506" y="329771"/>
                  </a:cubicBezTo>
                  <a:lnTo>
                    <a:pt x="15813" y="329771"/>
                  </a:lnTo>
                  <a:cubicBezTo>
                    <a:pt x="11619" y="329771"/>
                    <a:pt x="7597" y="328105"/>
                    <a:pt x="4631" y="325139"/>
                  </a:cubicBezTo>
                  <a:cubicBezTo>
                    <a:pt x="1666" y="322174"/>
                    <a:pt x="0" y="318152"/>
                    <a:pt x="0" y="313958"/>
                  </a:cubicBezTo>
                  <a:lnTo>
                    <a:pt x="0" y="15813"/>
                  </a:lnTo>
                  <a:cubicBezTo>
                    <a:pt x="0" y="7080"/>
                    <a:pt x="7080" y="0"/>
                    <a:pt x="15813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1244319" cy="310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5615866" y="-13096684"/>
            <a:ext cx="24910508" cy="24910508"/>
          </a:xfrm>
          <a:custGeom>
            <a:avLst/>
            <a:gdLst/>
            <a:ahLst/>
            <a:cxnLst/>
            <a:rect r="r" b="b" t="t" l="l"/>
            <a:pathLst>
              <a:path h="24910508" w="24910508">
                <a:moveTo>
                  <a:pt x="0" y="0"/>
                </a:moveTo>
                <a:lnTo>
                  <a:pt x="24910508" y="0"/>
                </a:lnTo>
                <a:lnTo>
                  <a:pt x="24910508" y="24910508"/>
                </a:lnTo>
                <a:lnTo>
                  <a:pt x="0" y="24910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536859" y="5614695"/>
            <a:ext cx="6722441" cy="3281553"/>
            <a:chOff x="0" y="0"/>
            <a:chExt cx="862762" cy="4211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2762" cy="421157"/>
            </a:xfrm>
            <a:custGeom>
              <a:avLst/>
              <a:gdLst/>
              <a:ahLst/>
              <a:cxnLst/>
              <a:rect r="r" b="b" t="t" l="l"/>
              <a:pathLst>
                <a:path h="421157" w="862762">
                  <a:moveTo>
                    <a:pt x="22493" y="0"/>
                  </a:moveTo>
                  <a:lnTo>
                    <a:pt x="840269" y="0"/>
                  </a:lnTo>
                  <a:cubicBezTo>
                    <a:pt x="852692" y="0"/>
                    <a:pt x="862762" y="10071"/>
                    <a:pt x="862762" y="22493"/>
                  </a:cubicBezTo>
                  <a:lnTo>
                    <a:pt x="862762" y="398663"/>
                  </a:lnTo>
                  <a:cubicBezTo>
                    <a:pt x="862762" y="411086"/>
                    <a:pt x="852692" y="421157"/>
                    <a:pt x="840269" y="421157"/>
                  </a:cubicBezTo>
                  <a:lnTo>
                    <a:pt x="22493" y="421157"/>
                  </a:lnTo>
                  <a:cubicBezTo>
                    <a:pt x="10071" y="421157"/>
                    <a:pt x="0" y="411086"/>
                    <a:pt x="0" y="398663"/>
                  </a:cubicBezTo>
                  <a:lnTo>
                    <a:pt x="0" y="22493"/>
                  </a:lnTo>
                  <a:cubicBezTo>
                    <a:pt x="0" y="10071"/>
                    <a:pt x="10071" y="0"/>
                    <a:pt x="22493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862762" cy="402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310412" y="1568576"/>
            <a:ext cx="5122744" cy="3391002"/>
            <a:chOff x="0" y="0"/>
            <a:chExt cx="793335" cy="5251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3335" cy="525149"/>
            </a:xfrm>
            <a:custGeom>
              <a:avLst/>
              <a:gdLst/>
              <a:ahLst/>
              <a:cxnLst/>
              <a:rect r="r" b="b" t="t" l="l"/>
              <a:pathLst>
                <a:path h="525149" w="793335">
                  <a:moveTo>
                    <a:pt x="29517" y="0"/>
                  </a:moveTo>
                  <a:lnTo>
                    <a:pt x="763818" y="0"/>
                  </a:lnTo>
                  <a:cubicBezTo>
                    <a:pt x="780120" y="0"/>
                    <a:pt x="793335" y="13215"/>
                    <a:pt x="793335" y="29517"/>
                  </a:cubicBezTo>
                  <a:lnTo>
                    <a:pt x="793335" y="495631"/>
                  </a:lnTo>
                  <a:cubicBezTo>
                    <a:pt x="793335" y="503460"/>
                    <a:pt x="790226" y="510968"/>
                    <a:pt x="784690" y="516503"/>
                  </a:cubicBezTo>
                  <a:cubicBezTo>
                    <a:pt x="779154" y="522039"/>
                    <a:pt x="771647" y="525149"/>
                    <a:pt x="763818" y="525149"/>
                  </a:cubicBezTo>
                  <a:lnTo>
                    <a:pt x="29517" y="525149"/>
                  </a:lnTo>
                  <a:cubicBezTo>
                    <a:pt x="13215" y="525149"/>
                    <a:pt x="0" y="511933"/>
                    <a:pt x="0" y="495631"/>
                  </a:cubicBezTo>
                  <a:lnTo>
                    <a:pt x="0" y="29517"/>
                  </a:lnTo>
                  <a:cubicBezTo>
                    <a:pt x="0" y="21689"/>
                    <a:pt x="3110" y="14181"/>
                    <a:pt x="8645" y="8645"/>
                  </a:cubicBezTo>
                  <a:cubicBezTo>
                    <a:pt x="14181" y="3110"/>
                    <a:pt x="21689" y="0"/>
                    <a:pt x="29517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793335" cy="506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261050" y="4235829"/>
            <a:ext cx="24074938" cy="24064906"/>
          </a:xfrm>
          <a:custGeom>
            <a:avLst/>
            <a:gdLst/>
            <a:ahLst/>
            <a:cxnLst/>
            <a:rect r="r" b="b" t="t" l="l"/>
            <a:pathLst>
              <a:path h="24064906" w="24074938">
                <a:moveTo>
                  <a:pt x="0" y="0"/>
                </a:moveTo>
                <a:lnTo>
                  <a:pt x="24074938" y="0"/>
                </a:lnTo>
                <a:lnTo>
                  <a:pt x="24074938" y="24064907"/>
                </a:lnTo>
                <a:lnTo>
                  <a:pt x="0" y="2406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53962" y="2102242"/>
            <a:ext cx="8549755" cy="4797651"/>
          </a:xfrm>
          <a:custGeom>
            <a:avLst/>
            <a:gdLst/>
            <a:ahLst/>
            <a:cxnLst/>
            <a:rect r="r" b="b" t="t" l="l"/>
            <a:pathLst>
              <a:path h="4797651" w="8549755">
                <a:moveTo>
                  <a:pt x="0" y="0"/>
                </a:moveTo>
                <a:lnTo>
                  <a:pt x="8549755" y="0"/>
                </a:lnTo>
                <a:lnTo>
                  <a:pt x="8549755" y="4797651"/>
                </a:lnTo>
                <a:lnTo>
                  <a:pt x="0" y="47976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32724" y="388142"/>
            <a:ext cx="13422551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15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Product Metrics &amp; Testing Findings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70190" y="1755327"/>
            <a:ext cx="4255779" cy="274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Validated Product Metrics:</a:t>
            </a:r>
          </a:p>
          <a:p>
            <a:pPr algn="l">
              <a:lnSpc>
                <a:spcPts val="3499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200 task attempts, 170 successes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85% overall task completion rate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Avg task time: 1.89 minutes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Avg feedback score: 3.99/5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Usefulness: 4.30/5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Interest: 4.34/5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07387" y="5747435"/>
            <a:ext cx="6171846" cy="274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Go-to-Market Measurement Targets: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50 landing page visitors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40% CTA click-through rate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30 prototype demo views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10 feedback responses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25% landing-to-demo conversion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Note: Targets only — strongest evidence is usability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0146" y="7547438"/>
            <a:ext cx="9083985" cy="1920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Prototype / Dashboard Metrics:</a:t>
            </a:r>
          </a:p>
          <a:p>
            <a:pPr algn="l">
              <a:lnSpc>
                <a:spcPts val="2774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1998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 Student review submissions and status counts.</a:t>
            </a:r>
          </a:p>
          <a:p>
            <a:pPr algn="l" marL="388620" indent="-194310" lvl="1">
              <a:lnSpc>
                <a:spcPts val="1998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  Pending moderation workload and approval rate.</a:t>
            </a:r>
          </a:p>
          <a:p>
            <a:pPr algn="l" marL="388620" indent="-194310" lvl="1">
              <a:lnSpc>
                <a:spcPts val="1998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  Dormitory versus cafeteria activity.</a:t>
            </a:r>
          </a:p>
          <a:p>
            <a:pPr algn="l" marL="388620" indent="-194310" lvl="1">
              <a:lnSpc>
                <a:spcPts val="1998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 Average rating, helpful votes, reports, users, and audit activity.</a:t>
            </a:r>
          </a:p>
          <a:p>
            <a:pPr algn="l" marL="388620" indent="-194310" lvl="1">
              <a:lnSpc>
                <a:spcPts val="1998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 Mobile activity and task-processing time in the Lab 11 analytics demonstration.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841455" y="128165"/>
            <a:ext cx="1171253" cy="1158693"/>
          </a:xfrm>
          <a:custGeom>
            <a:avLst/>
            <a:gdLst/>
            <a:ahLst/>
            <a:cxnLst/>
            <a:rect r="r" b="b" t="t" l="l"/>
            <a:pathLst>
              <a:path h="1158693" w="1171253">
                <a:moveTo>
                  <a:pt x="0" y="0"/>
                </a:moveTo>
                <a:lnTo>
                  <a:pt x="1171253" y="0"/>
                </a:lnTo>
                <a:lnTo>
                  <a:pt x="1171253" y="1158693"/>
                </a:lnTo>
                <a:lnTo>
                  <a:pt x="0" y="11586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9850" y="3260521"/>
            <a:ext cx="3959919" cy="6698744"/>
            <a:chOff x="0" y="0"/>
            <a:chExt cx="518059" cy="8763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059" cy="876367"/>
            </a:xfrm>
            <a:custGeom>
              <a:avLst/>
              <a:gdLst/>
              <a:ahLst/>
              <a:cxnLst/>
              <a:rect r="r" b="b" t="t" l="l"/>
              <a:pathLst>
                <a:path h="876367" w="518059">
                  <a:moveTo>
                    <a:pt x="38185" y="0"/>
                  </a:moveTo>
                  <a:lnTo>
                    <a:pt x="479874" y="0"/>
                  </a:lnTo>
                  <a:cubicBezTo>
                    <a:pt x="500963" y="0"/>
                    <a:pt x="518059" y="17096"/>
                    <a:pt x="518059" y="38185"/>
                  </a:cubicBezTo>
                  <a:lnTo>
                    <a:pt x="518059" y="838182"/>
                  </a:lnTo>
                  <a:cubicBezTo>
                    <a:pt x="518059" y="859271"/>
                    <a:pt x="500963" y="876367"/>
                    <a:pt x="479874" y="876367"/>
                  </a:cubicBezTo>
                  <a:lnTo>
                    <a:pt x="38185" y="876367"/>
                  </a:lnTo>
                  <a:cubicBezTo>
                    <a:pt x="17096" y="876367"/>
                    <a:pt x="0" y="859271"/>
                    <a:pt x="0" y="838182"/>
                  </a:cubicBezTo>
                  <a:lnTo>
                    <a:pt x="0" y="38185"/>
                  </a:lnTo>
                  <a:cubicBezTo>
                    <a:pt x="0" y="17096"/>
                    <a:pt x="17096" y="0"/>
                    <a:pt x="38185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18059" cy="85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1346106" y="-10051455"/>
            <a:ext cx="15194955" cy="15194955"/>
          </a:xfrm>
          <a:custGeom>
            <a:avLst/>
            <a:gdLst/>
            <a:ahLst/>
            <a:cxnLst/>
            <a:rect r="r" b="b" t="t" l="l"/>
            <a:pathLst>
              <a:path h="15194955" w="15194955">
                <a:moveTo>
                  <a:pt x="0" y="15194955"/>
                </a:moveTo>
                <a:lnTo>
                  <a:pt x="15194955" y="15194955"/>
                </a:lnTo>
                <a:lnTo>
                  <a:pt x="15194955" y="0"/>
                </a:lnTo>
                <a:lnTo>
                  <a:pt x="0" y="0"/>
                </a:lnTo>
                <a:lnTo>
                  <a:pt x="0" y="1519495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26358">
            <a:off x="13717941" y="5336747"/>
            <a:ext cx="9330587" cy="9194516"/>
          </a:xfrm>
          <a:custGeom>
            <a:avLst/>
            <a:gdLst/>
            <a:ahLst/>
            <a:cxnLst/>
            <a:rect r="r" b="b" t="t" l="l"/>
            <a:pathLst>
              <a:path h="9194516" w="9330587">
                <a:moveTo>
                  <a:pt x="0" y="0"/>
                </a:moveTo>
                <a:lnTo>
                  <a:pt x="9330586" y="0"/>
                </a:lnTo>
                <a:lnTo>
                  <a:pt x="9330586" y="9194516"/>
                </a:lnTo>
                <a:lnTo>
                  <a:pt x="0" y="91945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628781">
            <a:off x="-16346984" y="6252903"/>
            <a:ext cx="21483878" cy="18529845"/>
          </a:xfrm>
          <a:custGeom>
            <a:avLst/>
            <a:gdLst/>
            <a:ahLst/>
            <a:cxnLst/>
            <a:rect r="r" b="b" t="t" l="l"/>
            <a:pathLst>
              <a:path h="18529845" w="21483878">
                <a:moveTo>
                  <a:pt x="0" y="0"/>
                </a:moveTo>
                <a:lnTo>
                  <a:pt x="21483878" y="0"/>
                </a:lnTo>
                <a:lnTo>
                  <a:pt x="21483878" y="18529845"/>
                </a:lnTo>
                <a:lnTo>
                  <a:pt x="0" y="185298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801573" y="652762"/>
            <a:ext cx="8435298" cy="2151940"/>
            <a:chOff x="0" y="0"/>
            <a:chExt cx="2138523" cy="5455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38523" cy="545562"/>
            </a:xfrm>
            <a:custGeom>
              <a:avLst/>
              <a:gdLst/>
              <a:ahLst/>
              <a:cxnLst/>
              <a:rect r="r" b="b" t="t" l="l"/>
              <a:pathLst>
                <a:path h="545562" w="2138523">
                  <a:moveTo>
                    <a:pt x="21109" y="0"/>
                  </a:moveTo>
                  <a:lnTo>
                    <a:pt x="2117414" y="0"/>
                  </a:lnTo>
                  <a:cubicBezTo>
                    <a:pt x="2129072" y="0"/>
                    <a:pt x="2138523" y="9451"/>
                    <a:pt x="2138523" y="21109"/>
                  </a:cubicBezTo>
                  <a:lnTo>
                    <a:pt x="2138523" y="524452"/>
                  </a:lnTo>
                  <a:cubicBezTo>
                    <a:pt x="2138523" y="536111"/>
                    <a:pt x="2129072" y="545562"/>
                    <a:pt x="2117414" y="545562"/>
                  </a:cubicBezTo>
                  <a:lnTo>
                    <a:pt x="21109" y="545562"/>
                  </a:lnTo>
                  <a:cubicBezTo>
                    <a:pt x="9451" y="545562"/>
                    <a:pt x="0" y="536111"/>
                    <a:pt x="0" y="524452"/>
                  </a:cubicBezTo>
                  <a:lnTo>
                    <a:pt x="0" y="21109"/>
                  </a:lnTo>
                  <a:cubicBezTo>
                    <a:pt x="0" y="9451"/>
                    <a:pt x="9451" y="0"/>
                    <a:pt x="21109" y="0"/>
                  </a:cubicBezTo>
                  <a:close/>
                </a:path>
              </a:pathLst>
            </a:custGeom>
            <a:blipFill>
              <a:blip r:embed="rId7"/>
              <a:stretch>
                <a:fillRect l="-1022" t="0" r="-102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3593431"/>
            <a:ext cx="3442915" cy="588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Architecture &amp; Tech Stack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</a:t>
            </a: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Frontend: 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HTML5, CSS3, modular Vanilla JavaScript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• Hosting: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GitHub Pages (no-install browser demo)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</a:t>
            </a: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Data Layer: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fictional seed data + browser localStorage for accounts, reviews, saved places, reports, moderation, audits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• Interface:</a:t>
            </a: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responsive layouts, keyboard focus, reduced motion, WebP images, mobile-friendly controls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61970" y="834335"/>
            <a:ext cx="10597234" cy="184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15"/>
              </a:lnSpc>
              <a:spcBef>
                <a:spcPct val="0"/>
              </a:spcBef>
            </a:pPr>
            <a:r>
              <a:rPr lang="en-US" b="true" sz="6500" strike="noStrike" u="none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Technical Architecture &amp; Responsible Data Handling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24514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184081" y="3260521"/>
            <a:ext cx="3482794" cy="6673484"/>
            <a:chOff x="0" y="0"/>
            <a:chExt cx="457363" cy="8763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7363" cy="876367"/>
            </a:xfrm>
            <a:custGeom>
              <a:avLst/>
              <a:gdLst/>
              <a:ahLst/>
              <a:cxnLst/>
              <a:rect r="r" b="b" t="t" l="l"/>
              <a:pathLst>
                <a:path h="876367" w="457363">
                  <a:moveTo>
                    <a:pt x="43416" y="0"/>
                  </a:moveTo>
                  <a:lnTo>
                    <a:pt x="413947" y="0"/>
                  </a:lnTo>
                  <a:cubicBezTo>
                    <a:pt x="425462" y="0"/>
                    <a:pt x="436505" y="4574"/>
                    <a:pt x="444647" y="12716"/>
                  </a:cubicBezTo>
                  <a:cubicBezTo>
                    <a:pt x="452789" y="20858"/>
                    <a:pt x="457363" y="31901"/>
                    <a:pt x="457363" y="43416"/>
                  </a:cubicBezTo>
                  <a:lnTo>
                    <a:pt x="457363" y="832951"/>
                  </a:lnTo>
                  <a:cubicBezTo>
                    <a:pt x="457363" y="844465"/>
                    <a:pt x="452789" y="855508"/>
                    <a:pt x="444647" y="863651"/>
                  </a:cubicBezTo>
                  <a:cubicBezTo>
                    <a:pt x="436505" y="871793"/>
                    <a:pt x="425462" y="876367"/>
                    <a:pt x="413947" y="876367"/>
                  </a:cubicBezTo>
                  <a:lnTo>
                    <a:pt x="43416" y="876367"/>
                  </a:lnTo>
                  <a:cubicBezTo>
                    <a:pt x="31901" y="876367"/>
                    <a:pt x="20858" y="871793"/>
                    <a:pt x="12716" y="863651"/>
                  </a:cubicBezTo>
                  <a:cubicBezTo>
                    <a:pt x="4574" y="855508"/>
                    <a:pt x="0" y="844465"/>
                    <a:pt x="0" y="832951"/>
                  </a:cubicBezTo>
                  <a:lnTo>
                    <a:pt x="0" y="43416"/>
                  </a:lnTo>
                  <a:cubicBezTo>
                    <a:pt x="0" y="31901"/>
                    <a:pt x="4574" y="20858"/>
                    <a:pt x="12716" y="12716"/>
                  </a:cubicBezTo>
                  <a:cubicBezTo>
                    <a:pt x="20858" y="4574"/>
                    <a:pt x="31901" y="0"/>
                    <a:pt x="43416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457363" cy="85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422644" y="3650933"/>
            <a:ext cx="3005668" cy="526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Key Design Principles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No personal data stored on external servers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All interactions handled client-side for demo safety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Modular codebase supports future backend integration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Accessibility: keyboard focus, reduced motion support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38400" y="3260521"/>
            <a:ext cx="3634700" cy="6698744"/>
            <a:chOff x="0" y="0"/>
            <a:chExt cx="518059" cy="9547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8059" cy="954781"/>
            </a:xfrm>
            <a:custGeom>
              <a:avLst/>
              <a:gdLst/>
              <a:ahLst/>
              <a:cxnLst/>
              <a:rect r="r" b="b" t="t" l="l"/>
              <a:pathLst>
                <a:path h="954781" w="518059">
                  <a:moveTo>
                    <a:pt x="41602" y="0"/>
                  </a:moveTo>
                  <a:lnTo>
                    <a:pt x="476457" y="0"/>
                  </a:lnTo>
                  <a:cubicBezTo>
                    <a:pt x="487490" y="0"/>
                    <a:pt x="498072" y="4383"/>
                    <a:pt x="505874" y="12185"/>
                  </a:cubicBezTo>
                  <a:cubicBezTo>
                    <a:pt x="513676" y="19987"/>
                    <a:pt x="518059" y="30568"/>
                    <a:pt x="518059" y="41602"/>
                  </a:cubicBezTo>
                  <a:lnTo>
                    <a:pt x="518059" y="913179"/>
                  </a:lnTo>
                  <a:cubicBezTo>
                    <a:pt x="518059" y="924213"/>
                    <a:pt x="513676" y="934794"/>
                    <a:pt x="505874" y="942596"/>
                  </a:cubicBezTo>
                  <a:cubicBezTo>
                    <a:pt x="498072" y="950398"/>
                    <a:pt x="487490" y="954781"/>
                    <a:pt x="476457" y="954781"/>
                  </a:cubicBezTo>
                  <a:lnTo>
                    <a:pt x="41602" y="954781"/>
                  </a:lnTo>
                  <a:cubicBezTo>
                    <a:pt x="30568" y="954781"/>
                    <a:pt x="19987" y="950398"/>
                    <a:pt x="12185" y="942596"/>
                  </a:cubicBezTo>
                  <a:cubicBezTo>
                    <a:pt x="4383" y="934794"/>
                    <a:pt x="0" y="924213"/>
                    <a:pt x="0" y="913179"/>
                  </a:cubicBezTo>
                  <a:lnTo>
                    <a:pt x="0" y="41602"/>
                  </a:lnTo>
                  <a:cubicBezTo>
                    <a:pt x="0" y="30568"/>
                    <a:pt x="4383" y="19987"/>
                    <a:pt x="12185" y="12185"/>
                  </a:cubicBezTo>
                  <a:cubicBezTo>
                    <a:pt x="19987" y="4383"/>
                    <a:pt x="30568" y="0"/>
                    <a:pt x="41602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518059" cy="935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79646" y="3650933"/>
            <a:ext cx="3152206" cy="557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Responsible IT &amp; Privacy Design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Privacy notice and consent integrated into review submission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Data minimization and client-side input validation applied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Duplicate-report prevention enforced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Separation of student and administrator workflows maintained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568399" y="3260521"/>
            <a:ext cx="3634700" cy="6698744"/>
            <a:chOff x="0" y="0"/>
            <a:chExt cx="518059" cy="9547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8059" cy="954781"/>
            </a:xfrm>
            <a:custGeom>
              <a:avLst/>
              <a:gdLst/>
              <a:ahLst/>
              <a:cxnLst/>
              <a:rect r="r" b="b" t="t" l="l"/>
              <a:pathLst>
                <a:path h="954781" w="518059">
                  <a:moveTo>
                    <a:pt x="41602" y="0"/>
                  </a:moveTo>
                  <a:lnTo>
                    <a:pt x="476457" y="0"/>
                  </a:lnTo>
                  <a:cubicBezTo>
                    <a:pt x="487490" y="0"/>
                    <a:pt x="498072" y="4383"/>
                    <a:pt x="505874" y="12185"/>
                  </a:cubicBezTo>
                  <a:cubicBezTo>
                    <a:pt x="513676" y="19987"/>
                    <a:pt x="518059" y="30568"/>
                    <a:pt x="518059" y="41602"/>
                  </a:cubicBezTo>
                  <a:lnTo>
                    <a:pt x="518059" y="913179"/>
                  </a:lnTo>
                  <a:cubicBezTo>
                    <a:pt x="518059" y="924213"/>
                    <a:pt x="513676" y="934794"/>
                    <a:pt x="505874" y="942596"/>
                  </a:cubicBezTo>
                  <a:cubicBezTo>
                    <a:pt x="498072" y="950398"/>
                    <a:pt x="487490" y="954781"/>
                    <a:pt x="476457" y="954781"/>
                  </a:cubicBezTo>
                  <a:lnTo>
                    <a:pt x="41602" y="954781"/>
                  </a:lnTo>
                  <a:cubicBezTo>
                    <a:pt x="30568" y="954781"/>
                    <a:pt x="19987" y="950398"/>
                    <a:pt x="12185" y="942596"/>
                  </a:cubicBezTo>
                  <a:cubicBezTo>
                    <a:pt x="4383" y="934794"/>
                    <a:pt x="0" y="924213"/>
                    <a:pt x="0" y="913179"/>
                  </a:cubicBezTo>
                  <a:lnTo>
                    <a:pt x="0" y="41602"/>
                  </a:lnTo>
                  <a:cubicBezTo>
                    <a:pt x="0" y="30568"/>
                    <a:pt x="4383" y="19987"/>
                    <a:pt x="12185" y="12185"/>
                  </a:cubicBezTo>
                  <a:cubicBezTo>
                    <a:pt x="19987" y="4383"/>
                    <a:pt x="30568" y="0"/>
                    <a:pt x="41602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518059" cy="935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787474" y="3650933"/>
            <a:ext cx="3084324" cy="494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Current Limitations &amp; Production Path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No backend, production database, password hashing, or server-side auth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Suitable only for classroom demonstration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Production Path: secure API, shared database, hashed credentials, server-side authorization, and monitoring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6841455" y="128165"/>
            <a:ext cx="1171253" cy="1158693"/>
          </a:xfrm>
          <a:custGeom>
            <a:avLst/>
            <a:gdLst/>
            <a:ahLst/>
            <a:cxnLst/>
            <a:rect r="r" b="b" t="t" l="l"/>
            <a:pathLst>
              <a:path h="1158693" w="1171253">
                <a:moveTo>
                  <a:pt x="0" y="0"/>
                </a:moveTo>
                <a:lnTo>
                  <a:pt x="1171253" y="0"/>
                </a:lnTo>
                <a:lnTo>
                  <a:pt x="1171253" y="1158693"/>
                </a:lnTo>
                <a:lnTo>
                  <a:pt x="0" y="11586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74916" y="2232866"/>
            <a:ext cx="7827067" cy="4500216"/>
            <a:chOff x="0" y="0"/>
            <a:chExt cx="963096" cy="5537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3096" cy="553738"/>
            </a:xfrm>
            <a:custGeom>
              <a:avLst/>
              <a:gdLst/>
              <a:ahLst/>
              <a:cxnLst/>
              <a:rect r="r" b="b" t="t" l="l"/>
              <a:pathLst>
                <a:path h="553738" w="963096">
                  <a:moveTo>
                    <a:pt x="19319" y="0"/>
                  </a:moveTo>
                  <a:lnTo>
                    <a:pt x="943778" y="0"/>
                  </a:lnTo>
                  <a:cubicBezTo>
                    <a:pt x="948901" y="0"/>
                    <a:pt x="953815" y="2035"/>
                    <a:pt x="957438" y="5658"/>
                  </a:cubicBezTo>
                  <a:cubicBezTo>
                    <a:pt x="961061" y="9281"/>
                    <a:pt x="963096" y="14195"/>
                    <a:pt x="963096" y="19319"/>
                  </a:cubicBezTo>
                  <a:lnTo>
                    <a:pt x="963096" y="534419"/>
                  </a:lnTo>
                  <a:cubicBezTo>
                    <a:pt x="963096" y="539543"/>
                    <a:pt x="961061" y="544456"/>
                    <a:pt x="957438" y="548079"/>
                  </a:cubicBezTo>
                  <a:cubicBezTo>
                    <a:pt x="953815" y="551702"/>
                    <a:pt x="948901" y="553738"/>
                    <a:pt x="943778" y="553738"/>
                  </a:cubicBezTo>
                  <a:lnTo>
                    <a:pt x="19319" y="553738"/>
                  </a:lnTo>
                  <a:cubicBezTo>
                    <a:pt x="14195" y="553738"/>
                    <a:pt x="9281" y="551702"/>
                    <a:pt x="5658" y="548079"/>
                  </a:cubicBezTo>
                  <a:cubicBezTo>
                    <a:pt x="2035" y="544456"/>
                    <a:pt x="0" y="539543"/>
                    <a:pt x="0" y="534419"/>
                  </a:cubicBezTo>
                  <a:lnTo>
                    <a:pt x="0" y="19319"/>
                  </a:lnTo>
                  <a:cubicBezTo>
                    <a:pt x="0" y="14195"/>
                    <a:pt x="2035" y="9281"/>
                    <a:pt x="5658" y="5658"/>
                  </a:cubicBezTo>
                  <a:cubicBezTo>
                    <a:pt x="9281" y="2035"/>
                    <a:pt x="14195" y="0"/>
                    <a:pt x="19319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963096" cy="534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12686" y="2171470"/>
            <a:ext cx="6754880" cy="4434057"/>
            <a:chOff x="0" y="0"/>
            <a:chExt cx="800016" cy="5251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0016" cy="525149"/>
            </a:xfrm>
            <a:custGeom>
              <a:avLst/>
              <a:gdLst/>
              <a:ahLst/>
              <a:cxnLst/>
              <a:rect r="r" b="b" t="t" l="l"/>
              <a:pathLst>
                <a:path h="525149" w="800016">
                  <a:moveTo>
                    <a:pt x="22385" y="0"/>
                  </a:moveTo>
                  <a:lnTo>
                    <a:pt x="777631" y="0"/>
                  </a:lnTo>
                  <a:cubicBezTo>
                    <a:pt x="783568" y="0"/>
                    <a:pt x="789261" y="2358"/>
                    <a:pt x="793459" y="6556"/>
                  </a:cubicBezTo>
                  <a:cubicBezTo>
                    <a:pt x="797657" y="10755"/>
                    <a:pt x="800016" y="16448"/>
                    <a:pt x="800016" y="22385"/>
                  </a:cubicBezTo>
                  <a:lnTo>
                    <a:pt x="800016" y="502763"/>
                  </a:lnTo>
                  <a:cubicBezTo>
                    <a:pt x="800016" y="508700"/>
                    <a:pt x="797657" y="514394"/>
                    <a:pt x="793459" y="518592"/>
                  </a:cubicBezTo>
                  <a:cubicBezTo>
                    <a:pt x="789261" y="522790"/>
                    <a:pt x="783568" y="525149"/>
                    <a:pt x="777631" y="525149"/>
                  </a:cubicBezTo>
                  <a:lnTo>
                    <a:pt x="22385" y="525149"/>
                  </a:lnTo>
                  <a:cubicBezTo>
                    <a:pt x="16448" y="525149"/>
                    <a:pt x="10755" y="522790"/>
                    <a:pt x="6556" y="518592"/>
                  </a:cubicBezTo>
                  <a:cubicBezTo>
                    <a:pt x="2358" y="514394"/>
                    <a:pt x="0" y="508700"/>
                    <a:pt x="0" y="502763"/>
                  </a:cubicBezTo>
                  <a:lnTo>
                    <a:pt x="0" y="22385"/>
                  </a:lnTo>
                  <a:cubicBezTo>
                    <a:pt x="0" y="16448"/>
                    <a:pt x="2358" y="10755"/>
                    <a:pt x="6556" y="6556"/>
                  </a:cubicBezTo>
                  <a:cubicBezTo>
                    <a:pt x="10755" y="2358"/>
                    <a:pt x="16448" y="0"/>
                    <a:pt x="22385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800016" cy="506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55839">
            <a:off x="-403938" y="-11728805"/>
            <a:ext cx="15539342" cy="15539342"/>
          </a:xfrm>
          <a:custGeom>
            <a:avLst/>
            <a:gdLst/>
            <a:ahLst/>
            <a:cxnLst/>
            <a:rect r="r" b="b" t="t" l="l"/>
            <a:pathLst>
              <a:path h="15539342" w="15539342">
                <a:moveTo>
                  <a:pt x="0" y="0"/>
                </a:moveTo>
                <a:lnTo>
                  <a:pt x="15539341" y="0"/>
                </a:lnTo>
                <a:lnTo>
                  <a:pt x="15539341" y="15539341"/>
                </a:lnTo>
                <a:lnTo>
                  <a:pt x="0" y="15539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628781">
            <a:off x="6663970" y="8227580"/>
            <a:ext cx="10741789" cy="15059477"/>
          </a:xfrm>
          <a:custGeom>
            <a:avLst/>
            <a:gdLst/>
            <a:ahLst/>
            <a:cxnLst/>
            <a:rect r="r" b="b" t="t" l="l"/>
            <a:pathLst>
              <a:path h="15059477" w="10741789">
                <a:moveTo>
                  <a:pt x="0" y="0"/>
                </a:moveTo>
                <a:lnTo>
                  <a:pt x="10741789" y="0"/>
                </a:lnTo>
                <a:lnTo>
                  <a:pt x="10741789" y="15059476"/>
                </a:lnTo>
                <a:lnTo>
                  <a:pt x="0" y="150594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0002" t="-23044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006581" y="7004544"/>
            <a:ext cx="2515645" cy="3086681"/>
          </a:xfrm>
          <a:custGeom>
            <a:avLst/>
            <a:gdLst/>
            <a:ahLst/>
            <a:cxnLst/>
            <a:rect r="r" b="b" t="t" l="l"/>
            <a:pathLst>
              <a:path h="3086681" w="2515645">
                <a:moveTo>
                  <a:pt x="0" y="0"/>
                </a:moveTo>
                <a:lnTo>
                  <a:pt x="2515644" y="0"/>
                </a:lnTo>
                <a:lnTo>
                  <a:pt x="2515644" y="3086681"/>
                </a:lnTo>
                <a:lnTo>
                  <a:pt x="0" y="3086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5646" y="6733082"/>
            <a:ext cx="2741346" cy="2840773"/>
          </a:xfrm>
          <a:custGeom>
            <a:avLst/>
            <a:gdLst/>
            <a:ahLst/>
            <a:cxnLst/>
            <a:rect r="r" b="b" t="t" l="l"/>
            <a:pathLst>
              <a:path h="2840773" w="2741346">
                <a:moveTo>
                  <a:pt x="0" y="0"/>
                </a:moveTo>
                <a:lnTo>
                  <a:pt x="2741346" y="0"/>
                </a:lnTo>
                <a:lnTo>
                  <a:pt x="2741346" y="2840773"/>
                </a:lnTo>
                <a:lnTo>
                  <a:pt x="0" y="28407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95153" y="712240"/>
            <a:ext cx="14578890" cy="122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35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IMPROVEMENTS &amp; FUTURE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0265" y="3364089"/>
            <a:ext cx="5879723" cy="282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Clearer homepage navigation and shorter feature text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Enhanced search, filter, and sort UI visibility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Stronger login/signup guidance and confirmation messages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Clear required fields, privacy consent, and submission confirmation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Added Saved Places, comparison, notifications, removal requests, report investigations, user and audit management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90073" y="2644012"/>
            <a:ext cx="459675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4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Future Development Priorities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3121249"/>
            <a:ext cx="7407702" cy="313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Secure backend with authenticated sessions and server-side authorization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Verified university-managed accounts and official campus data updates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Multilingual support (Thai/English and more)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Structured moderation reasons, deletion recovery, and transparent appeals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Larger live pilots on multiple platforms and real student groups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Production-grade accessibility, privacy, security, backup, and monitoring controls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5697" y="2644012"/>
            <a:ext cx="434801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4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Improvements From Testing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841455" y="128165"/>
            <a:ext cx="1171253" cy="1158693"/>
          </a:xfrm>
          <a:custGeom>
            <a:avLst/>
            <a:gdLst/>
            <a:ahLst/>
            <a:cxnLst/>
            <a:rect r="r" b="b" t="t" l="l"/>
            <a:pathLst>
              <a:path h="1158693" w="1171253">
                <a:moveTo>
                  <a:pt x="0" y="0"/>
                </a:moveTo>
                <a:lnTo>
                  <a:pt x="1171253" y="0"/>
                </a:lnTo>
                <a:lnTo>
                  <a:pt x="1171253" y="1158693"/>
                </a:lnTo>
                <a:lnTo>
                  <a:pt x="0" y="11586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64345" y="2812023"/>
            <a:ext cx="15194955" cy="15194955"/>
          </a:xfrm>
          <a:custGeom>
            <a:avLst/>
            <a:gdLst/>
            <a:ahLst/>
            <a:cxnLst/>
            <a:rect r="r" b="b" t="t" l="l"/>
            <a:pathLst>
              <a:path h="15194955" w="15194955">
                <a:moveTo>
                  <a:pt x="0" y="0"/>
                </a:moveTo>
                <a:lnTo>
                  <a:pt x="15194955" y="0"/>
                </a:lnTo>
                <a:lnTo>
                  <a:pt x="15194955" y="15194956"/>
                </a:lnTo>
                <a:lnTo>
                  <a:pt x="0" y="15194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732171">
            <a:off x="10240985" y="-3690733"/>
            <a:ext cx="12910814" cy="9236612"/>
          </a:xfrm>
          <a:custGeom>
            <a:avLst/>
            <a:gdLst/>
            <a:ahLst/>
            <a:cxnLst/>
            <a:rect r="r" b="b" t="t" l="l"/>
            <a:pathLst>
              <a:path h="9236612" w="12910814">
                <a:moveTo>
                  <a:pt x="0" y="0"/>
                </a:moveTo>
                <a:lnTo>
                  <a:pt x="12910814" y="0"/>
                </a:lnTo>
                <a:lnTo>
                  <a:pt x="12910814" y="9236611"/>
                </a:lnTo>
                <a:lnTo>
                  <a:pt x="0" y="92366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266353" y="-2453978"/>
            <a:ext cx="10965243" cy="8744781"/>
          </a:xfrm>
          <a:custGeom>
            <a:avLst/>
            <a:gdLst/>
            <a:ahLst/>
            <a:cxnLst/>
            <a:rect r="r" b="b" t="t" l="l"/>
            <a:pathLst>
              <a:path h="8744781" w="10965243">
                <a:moveTo>
                  <a:pt x="0" y="0"/>
                </a:moveTo>
                <a:lnTo>
                  <a:pt x="10965243" y="0"/>
                </a:lnTo>
                <a:lnTo>
                  <a:pt x="10965243" y="8744782"/>
                </a:lnTo>
                <a:lnTo>
                  <a:pt x="0" y="87447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26887" y="8153400"/>
            <a:ext cx="5412454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Thank you, Dr. Herison Surbakti &amp; evaluators — we welcome your questions and feedback.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6522" y="2137488"/>
            <a:ext cx="15210970" cy="356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57"/>
              </a:lnSpc>
              <a:spcBef>
                <a:spcPct val="0"/>
              </a:spcBef>
            </a:pPr>
            <a:r>
              <a:rPr lang="en-US" b="true" sz="24916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92127" y="6210435"/>
            <a:ext cx="9881975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</a:pPr>
            <a:r>
              <a:rPr lang="en-US" b="true" sz="29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"HallPass turns scattered campus knowledge into one clearer starting point for every new student."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841455" y="128165"/>
            <a:ext cx="1171253" cy="1158693"/>
          </a:xfrm>
          <a:custGeom>
            <a:avLst/>
            <a:gdLst/>
            <a:ahLst/>
            <a:cxnLst/>
            <a:rect r="r" b="b" t="t" l="l"/>
            <a:pathLst>
              <a:path h="1158693" w="1171253">
                <a:moveTo>
                  <a:pt x="0" y="0"/>
                </a:moveTo>
                <a:lnTo>
                  <a:pt x="1171253" y="0"/>
                </a:lnTo>
                <a:lnTo>
                  <a:pt x="1171253" y="1158693"/>
                </a:lnTo>
                <a:lnTo>
                  <a:pt x="0" y="11586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DAHQ9ToFlIs</dc:identifier>
  <dcterms:modified xsi:type="dcterms:W3CDTF">2011-08-01T06:04:30Z</dcterms:modified>
  <cp:revision>1</cp:revision>
  <dc:title>HallPass — Student Reviews &amp; Campus Survival Guide</dc:title>
</cp:coreProperties>
</file>